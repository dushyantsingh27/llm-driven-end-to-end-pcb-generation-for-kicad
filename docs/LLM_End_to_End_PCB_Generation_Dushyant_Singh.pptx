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7.jpg" ContentType="image/jpeg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handoutMasterIdLst>
    <p:handoutMasterId r:id="rId25"/>
  </p:handoutMasterIdLst>
  <p:sldIdLst>
    <p:sldId id="262" r:id="rId5"/>
    <p:sldId id="263" r:id="rId6"/>
    <p:sldId id="279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80" r:id="rId15"/>
    <p:sldId id="272" r:id="rId16"/>
    <p:sldId id="273" r:id="rId17"/>
    <p:sldId id="281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62"/>
            <p14:sldId id="263"/>
            <p14:sldId id="279"/>
            <p14:sldId id="264"/>
            <p14:sldId id="266"/>
            <p14:sldId id="267"/>
            <p14:sldId id="268"/>
            <p14:sldId id="269"/>
            <p14:sldId id="270"/>
            <p14:sldId id="271"/>
            <p14:sldId id="280"/>
            <p14:sldId id="272"/>
            <p14:sldId id="273"/>
            <p14:sldId id="281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7E"/>
    <a:srgbClr val="8C0078"/>
    <a:srgbClr val="04572F"/>
    <a:srgbClr val="EEEFF1"/>
    <a:srgbClr val="A6ADB5"/>
    <a:srgbClr val="8191A5"/>
    <a:srgbClr val="C0C8D2"/>
    <a:srgbClr val="525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47" autoAdjust="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4EC7D5-0A64-979A-137E-258D13C164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F402C5-240F-7227-00DB-62C4307EC6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61626B-ED88-49E9-BAB4-09E7B1799CA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24949-8158-D072-4D0D-220AA712DD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847C7-0583-B900-215B-3F42780975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5EC93-916B-4051-8ADD-7DA172C9D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629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1:15:55.0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102 0 24559,'-102'9954'0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1:20:08.7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1:20:09.1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1:20:09.5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1:20:09.8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1:20:10.1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1:20:10.5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1:20:10.8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1:20:11.2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1:20:13.2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772CB-0580-E539-F34A-F86E65BEF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39F49-52C3-1588-312A-025A7B47B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B8C6A-D098-B9F9-C01B-EB6B6910F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9415" indent="-349415">
              <a:buAutoNum type="arabicPeriod"/>
            </a:pPr>
            <a:endParaRPr lang="en-US" sz="1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CB056-CB2A-46AA-F3AD-ABFE53F78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z="1600" smtClean="0"/>
              <a:pPr/>
              <a:t>2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122976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</a:t>
            </a:r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Drag and drop </a:t>
            </a:r>
            <a:br>
              <a:rPr lang="en-US"/>
            </a:br>
            <a:r>
              <a:rPr lang="en-US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</a:t>
            </a:r>
            <a:endParaRPr lang="fr-FR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S5_TechConnect_Logo">
            <a:extLst>
              <a:ext uri="{FF2B5EF4-FFF2-40B4-BE49-F238E27FC236}">
                <a16:creationId xmlns:a16="http://schemas.microsoft.com/office/drawing/2014/main" id="{9900FA1A-AB76-05C1-34B4-C6102D7B62EA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72817" y="6152360"/>
            <a:ext cx="1255719" cy="64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1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9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customXml" Target="../ink/ink8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customXml" Target="../ink/ink7.xml"/><Relationship Id="rId5" Type="http://schemas.openxmlformats.org/officeDocument/2006/relationships/customXml" Target="../ink/ink2.xml"/><Relationship Id="rId10" Type="http://schemas.openxmlformats.org/officeDocument/2006/relationships/customXml" Target="../ink/ink6.xml"/><Relationship Id="rId4" Type="http://schemas.openxmlformats.org/officeDocument/2006/relationships/image" Target="../media/image80.png"/><Relationship Id="rId9" Type="http://schemas.openxmlformats.org/officeDocument/2006/relationships/customXml" Target="../ink/ink5.xml"/><Relationship Id="rId14" Type="http://schemas.openxmlformats.org/officeDocument/2006/relationships/customXml" Target="../ink/ink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2077965"/>
            <a:ext cx="5795963" cy="2702071"/>
          </a:xfrm>
        </p:spPr>
        <p:txBody>
          <a:bodyPr anchor="ctr">
            <a:normAutofit/>
          </a:bodyPr>
          <a:lstStyle/>
          <a:p>
            <a:r>
              <a:rPr lang="en-US" dirty="0"/>
              <a:t>LLM-Driven Schematic Generation for STMicroelectronics Components in KiCAD.v7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12613E07-DCF2-4461-AFF5-7A705127F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5015060"/>
            <a:ext cx="5795963" cy="107776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Mentor: Mr. Saurabh Rawat</a:t>
            </a:r>
          </a:p>
          <a:p>
            <a:r>
              <a:rPr lang="en-US" dirty="0"/>
              <a:t>Mentee: Dushyant Singh</a:t>
            </a:r>
          </a:p>
          <a:p>
            <a:r>
              <a:rPr lang="en-US" dirty="0"/>
              <a:t>June 2026</a:t>
            </a:r>
          </a:p>
        </p:txBody>
      </p:sp>
      <p:pic>
        <p:nvPicPr>
          <p:cNvPr id="12" name="Picture Placeholder 11" descr="Circuit board">
            <a:extLst>
              <a:ext uri="{FF2B5EF4-FFF2-40B4-BE49-F238E27FC236}">
                <a16:creationId xmlns:a16="http://schemas.microsoft.com/office/drawing/2014/main" id="{55828AC9-C151-A6C4-0739-DECE54E9731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65" r="10145" b="-1"/>
          <a:stretch>
            <a:fillRect/>
          </a:stretch>
        </p:blipFill>
        <p:spPr>
          <a:xfrm>
            <a:off x="300038" y="10"/>
            <a:ext cx="5495544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"/>
          <p:cNvSpPr>
            <a:spLocks noGrp="1"/>
          </p:cNvSpPr>
          <p:nvPr>
            <p:ph type="sldNum" sz="quarter" idx="4294967295"/>
          </p:nvPr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>
            <a:normAutofit/>
          </a:bodyPr>
          <a:lstStyle/>
          <a:p>
            <a:fld id="{62A42E78-4FE3-4E16-9FB9-64A349BFE3FC}" type="slidenum">
              <a:rPr lang="en-US" smtClean="0">
                <a:latin typeface="Arial Narrow"/>
              </a:rPr>
              <a:pPr/>
              <a:t>2</a:t>
            </a:fld>
            <a:endParaRPr lang="en-US">
              <a:latin typeface="Arial Narrow"/>
            </a:endParaRPr>
          </a:p>
        </p:txBody>
      </p:sp>
      <p:sp>
        <p:nvSpPr>
          <p:cNvPr id="69" name="HeaderBar"/>
          <p:cNvSpPr>
            <a:spLocks/>
          </p:cNvSpPr>
          <p:nvPr/>
        </p:nvSpPr>
        <p:spPr>
          <a:xfrm>
            <a:off x="184526" y="-1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 anchorCtr="0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LLM Driven End to End PCB Generation for KiCAD</a:t>
            </a:r>
          </a:p>
        </p:txBody>
      </p:sp>
      <p:sp>
        <p:nvSpPr>
          <p:cNvPr id="102" name="ContentBox"/>
          <p:cNvSpPr/>
          <p:nvPr/>
        </p:nvSpPr>
        <p:spPr>
          <a:xfrm>
            <a:off x="184526" y="1308479"/>
            <a:ext cx="7200000" cy="230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LLM-Driven End-to-End PCB Generation for STMicroelectronics</a:t>
            </a:r>
          </a:p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From a natural-language circuit spec → ERC-validated SKiDL netlist → native KiCad 9 schematic → automated placement &amp; routing.</a:t>
            </a:r>
          </a:p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Grounded in ST datasheets and ST design guidelines, targeting ST component families.</a:t>
            </a:r>
          </a:p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Supervised first-draft today; trajectory toward full end-to-end automation before fabrication.</a:t>
            </a:r>
          </a:p>
        </p:txBody>
      </p:sp>
      <p:sp>
        <p:nvSpPr>
          <p:cNvPr id="101" name="LabelBox_Aim"/>
          <p:cNvSpPr/>
          <p:nvPr/>
        </p:nvSpPr>
        <p:spPr>
          <a:xfrm>
            <a:off x="184833" y="3811279"/>
            <a:ext cx="1928582" cy="923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Aim</a:t>
            </a:r>
          </a:p>
        </p:txBody>
      </p:sp>
      <p:sp>
        <p:nvSpPr>
          <p:cNvPr id="2" name="ContentBox"/>
          <p:cNvSpPr/>
          <p:nvPr/>
        </p:nvSpPr>
        <p:spPr>
          <a:xfrm>
            <a:off x="2147460" y="3800694"/>
            <a:ext cx="5592903" cy="93377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Automate the full path from a natural-language spec to a placed, routed, fabrication-ready PCB for ST parts — end to end, not just the schematic.</a:t>
            </a:r>
          </a:p>
        </p:txBody>
      </p:sp>
      <p:sp>
        <p:nvSpPr>
          <p:cNvPr id="3" name="LabelBox_Meth"/>
          <p:cNvSpPr/>
          <p:nvPr/>
        </p:nvSpPr>
        <p:spPr>
          <a:xfrm>
            <a:off x="184526" y="4923312"/>
            <a:ext cx="1928582" cy="923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Method</a:t>
            </a:r>
          </a:p>
        </p:txBody>
      </p:sp>
      <p:sp>
        <p:nvSpPr>
          <p:cNvPr id="4" name="ContentBox"/>
          <p:cNvSpPr/>
          <p:nvPr/>
        </p:nvSpPr>
        <p:spPr>
          <a:xfrm>
            <a:off x="2147460" y="4912727"/>
            <a:ext cx="5592903" cy="93377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PCBSchemaGen: LLM + RAG over ST datasheets → SKiDL netlist → native KiCad 9 schematic → auto-placement → Freerouting routing.</a:t>
            </a:r>
          </a:p>
        </p:txBody>
      </p:sp>
      <p:sp>
        <p:nvSpPr>
          <p:cNvPr id="5" name="LabelBox_Resu"/>
          <p:cNvSpPr/>
          <p:nvPr/>
        </p:nvSpPr>
        <p:spPr>
          <a:xfrm>
            <a:off x="184526" y="6008372"/>
            <a:ext cx="1928887" cy="7961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Result</a:t>
            </a:r>
          </a:p>
        </p:txBody>
      </p:sp>
      <p:sp>
        <p:nvSpPr>
          <p:cNvPr id="7" name="ContentBox"/>
          <p:cNvSpPr/>
          <p:nvPr/>
        </p:nvSpPr>
        <p:spPr>
          <a:xfrm>
            <a:off x="2147460" y="6008372"/>
            <a:ext cx="5063191" cy="796105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 lnSpcReduction="10000"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0 ERC errors with correct footprints on two ST benchmarks (I2C &amp; SPI). ST-style power auto-wiring in progress; layout + routing next.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9175AE-3D1B-1B19-A06B-FC3EDC7046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957" y="-1"/>
            <a:ext cx="1146751" cy="1146751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8001000" y="1225296"/>
            <a:ext cx="3566160" cy="38404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ctr"/>
            <a:r>
              <a:rPr sz="1800" b="1">
                <a:solidFill>
                  <a:srgbClr val="03234B"/>
                </a:solidFill>
                <a:latin typeface="Arial"/>
              </a:rPr>
              <a:t>End-to-End Pipeline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01000" y="1755648"/>
            <a:ext cx="3566160" cy="530352"/>
          </a:xfrm>
          <a:prstGeom prst="rect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Natural-Language Prompt</a:t>
            </a:r>
          </a:p>
        </p:txBody>
      </p:sp>
      <p:sp>
        <p:nvSpPr>
          <p:cNvPr id="105" name="Down Arrow 104"/>
          <p:cNvSpPr/>
          <p:nvPr/>
        </p:nvSpPr>
        <p:spPr>
          <a:xfrm>
            <a:off x="9646920" y="2286000"/>
            <a:ext cx="274320" cy="169164"/>
          </a:xfrm>
          <a:prstGeom prst="downArrow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001000" y="2455164"/>
            <a:ext cx="3566160" cy="530352"/>
          </a:xfrm>
          <a:prstGeom prst="rect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LLM + RAG  (ST datasheets)</a:t>
            </a:r>
          </a:p>
        </p:txBody>
      </p:sp>
      <p:sp>
        <p:nvSpPr>
          <p:cNvPr id="107" name="Down Arrow 106"/>
          <p:cNvSpPr/>
          <p:nvPr/>
        </p:nvSpPr>
        <p:spPr>
          <a:xfrm>
            <a:off x="9646920" y="2985516"/>
            <a:ext cx="274320" cy="169164"/>
          </a:xfrm>
          <a:prstGeom prst="downArrow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8001000" y="3154680"/>
            <a:ext cx="3566160" cy="530352"/>
          </a:xfrm>
          <a:prstGeom prst="rect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SKiDL Netlist — ERC ✓</a:t>
            </a:r>
          </a:p>
        </p:txBody>
      </p:sp>
      <p:sp>
        <p:nvSpPr>
          <p:cNvPr id="109" name="Down Arrow 108"/>
          <p:cNvSpPr/>
          <p:nvPr/>
        </p:nvSpPr>
        <p:spPr>
          <a:xfrm>
            <a:off x="9646920" y="3685032"/>
            <a:ext cx="274320" cy="169164"/>
          </a:xfrm>
          <a:prstGeom prst="downArrow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001000" y="3854196"/>
            <a:ext cx="3566160" cy="530352"/>
          </a:xfrm>
          <a:prstGeom prst="rect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KiCad 9 Schematic — 0 ERC ✓</a:t>
            </a:r>
          </a:p>
        </p:txBody>
      </p:sp>
      <p:sp>
        <p:nvSpPr>
          <p:cNvPr id="111" name="Down Arrow 110"/>
          <p:cNvSpPr/>
          <p:nvPr/>
        </p:nvSpPr>
        <p:spPr>
          <a:xfrm>
            <a:off x="9646920" y="4384548"/>
            <a:ext cx="274320" cy="169164"/>
          </a:xfrm>
          <a:prstGeom prst="downArrow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8001000" y="4553712"/>
            <a:ext cx="3566160" cy="53035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03234B"/>
                </a:solidFill>
                <a:latin typeface="Arial"/>
              </a:rPr>
              <a:t>Auto-Placement + Routing</a:t>
            </a:r>
          </a:p>
        </p:txBody>
      </p:sp>
      <p:sp>
        <p:nvSpPr>
          <p:cNvPr id="113" name="Down Arrow 112"/>
          <p:cNvSpPr/>
          <p:nvPr/>
        </p:nvSpPr>
        <p:spPr>
          <a:xfrm>
            <a:off x="9646920" y="5084064"/>
            <a:ext cx="274320" cy="169164"/>
          </a:xfrm>
          <a:prstGeom prst="downArrow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8001000" y="5253228"/>
            <a:ext cx="3566160" cy="53035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03234B"/>
                </a:solidFill>
                <a:latin typeface="Arial"/>
              </a:rPr>
              <a:t>Fabrication-Ready PCB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01000" y="5875020"/>
            <a:ext cx="182880" cy="182880"/>
          </a:xfrm>
          <a:prstGeom prst="rect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220456" y="5856732"/>
            <a:ext cx="1097280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03234B"/>
                </a:solidFill>
                <a:latin typeface="Arial"/>
              </a:rPr>
              <a:t>Built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418320" y="5875020"/>
            <a:ext cx="182880" cy="18288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637776" y="5856732"/>
            <a:ext cx="1097280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03234B"/>
                </a:solidFill>
                <a:latin typeface="Arial"/>
              </a:rPr>
              <a:t>In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Num">
            <a:extLst>
              <a:ext uri="{FF2B5EF4-FFF2-40B4-BE49-F238E27FC236}">
                <a16:creationId xmlns:a16="http://schemas.microsoft.com/office/drawing/2014/main" id="{4016CAA0-9720-6AFE-3A01-FA0BFAA91585}"/>
              </a:ext>
            </a:extLst>
          </p:cNvPr>
          <p:cNvSpPr txBox="1">
            <a:spLocks/>
          </p:cNvSpPr>
          <p:nvPr/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100" b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2A42E78-4FE3-4E16-9FB9-64A349BFE3FC}" type="slidenum">
              <a:rPr lang="en-IN" smtClean="0">
                <a:latin typeface="Arial Narrow"/>
              </a:rPr>
              <a:pPr/>
              <a:t>3</a:t>
            </a:fld>
            <a:endParaRPr lang="en-IN">
              <a:latin typeface="Arial Narrow"/>
            </a:endParaRPr>
          </a:p>
        </p:txBody>
      </p:sp>
      <p:sp>
        <p:nvSpPr>
          <p:cNvPr id="3" name="HeaderBar">
            <a:extLst>
              <a:ext uri="{FF2B5EF4-FFF2-40B4-BE49-F238E27FC236}">
                <a16:creationId xmlns:a16="http://schemas.microsoft.com/office/drawing/2014/main" id="{132836E5-4BB5-0733-131A-B658D36EE2B1}"/>
              </a:ext>
            </a:extLst>
          </p:cNvPr>
          <p:cNvSpPr>
            <a:spLocks/>
          </p:cNvSpPr>
          <p:nvPr/>
        </p:nvSpPr>
        <p:spPr>
          <a:xfrm>
            <a:off x="184526" y="-1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 anchorCtr="0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Pipeline Flowchart End-to-End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E16D2B-6E1B-2AF7-7DF3-A114451EC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807" y="1903631"/>
            <a:ext cx="9972909" cy="36197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C8C316C-3B41-19DC-3010-3B9CADA38CDF}"/>
                  </a:ext>
                </a:extLst>
              </p14:cNvPr>
              <p14:cNvContentPartPr/>
              <p14:nvPr/>
            </p14:nvContentPartPr>
            <p14:xfrm>
              <a:off x="1163898" y="1911891"/>
              <a:ext cx="37080" cy="35838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C8C316C-3B41-19DC-3010-3B9CADA38C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0898" y="1848891"/>
                <a:ext cx="162720" cy="370944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Sub0">
            <a:extLst>
              <a:ext uri="{FF2B5EF4-FFF2-40B4-BE49-F238E27FC236}">
                <a16:creationId xmlns:a16="http://schemas.microsoft.com/office/drawing/2014/main" id="{286E1B91-15C2-60DE-2D3F-D38171FEDBF6}"/>
              </a:ext>
            </a:extLst>
          </p:cNvPr>
          <p:cNvSpPr txBox="1"/>
          <p:nvPr/>
        </p:nvSpPr>
        <p:spPr>
          <a:xfrm>
            <a:off x="1515381" y="3169000"/>
            <a:ext cx="1911309" cy="520000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ctr"/>
            <a:r>
              <a:rPr lang="en-US" sz="1100" b="1" dirty="0">
                <a:solidFill>
                  <a:srgbClr val="444444"/>
                </a:solidFill>
                <a:latin typeface="Arial"/>
              </a:rPr>
              <a:t>Text + ST Part Numbers</a:t>
            </a:r>
          </a:p>
        </p:txBody>
      </p:sp>
      <p:sp>
        <p:nvSpPr>
          <p:cNvPr id="24" name="Sub1">
            <a:extLst>
              <a:ext uri="{FF2B5EF4-FFF2-40B4-BE49-F238E27FC236}">
                <a16:creationId xmlns:a16="http://schemas.microsoft.com/office/drawing/2014/main" id="{6B0326E9-B67C-AF5B-ADCA-75B546671BCE}"/>
              </a:ext>
            </a:extLst>
          </p:cNvPr>
          <p:cNvSpPr txBox="1"/>
          <p:nvPr/>
        </p:nvSpPr>
        <p:spPr>
          <a:xfrm>
            <a:off x="3705528" y="1980036"/>
            <a:ext cx="1680000" cy="520000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ctr"/>
            <a:r>
              <a:rPr lang="en-US" sz="1100" b="1" dirty="0">
                <a:solidFill>
                  <a:srgbClr val="444444"/>
                </a:solidFill>
                <a:latin typeface="Arial"/>
              </a:rPr>
              <a:t>Retrieves datasheet
chunks via ChromaDB</a:t>
            </a:r>
          </a:p>
        </p:txBody>
      </p:sp>
      <p:sp>
        <p:nvSpPr>
          <p:cNvPr id="26" name="Sub2">
            <a:extLst>
              <a:ext uri="{FF2B5EF4-FFF2-40B4-BE49-F238E27FC236}">
                <a16:creationId xmlns:a16="http://schemas.microsoft.com/office/drawing/2014/main" id="{06625136-B14B-2344-BEEB-89CCC87A90ED}"/>
              </a:ext>
            </a:extLst>
          </p:cNvPr>
          <p:cNvSpPr txBox="1"/>
          <p:nvPr/>
        </p:nvSpPr>
        <p:spPr>
          <a:xfrm>
            <a:off x="5526218" y="2996036"/>
            <a:ext cx="1680000" cy="520000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ctr"/>
            <a:r>
              <a:rPr lang="en-US" sz="1100" b="1" dirty="0">
                <a:solidFill>
                  <a:srgbClr val="444444"/>
                </a:solidFill>
                <a:latin typeface="Arial"/>
              </a:rPr>
              <a:t>Part(), Net(), +=
SKiDL syntax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AEF57DC-17E8-0EED-7666-46549DB78F9F}"/>
              </a:ext>
            </a:extLst>
          </p:cNvPr>
          <p:cNvGrpSpPr/>
          <p:nvPr/>
        </p:nvGrpSpPr>
        <p:grpSpPr>
          <a:xfrm>
            <a:off x="8062938" y="4119411"/>
            <a:ext cx="46800" cy="425160"/>
            <a:chOff x="8062938" y="4119411"/>
            <a:chExt cx="46800" cy="42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67DEEEB-6650-7F5E-AF61-42C40A7DFEA4}"/>
                    </a:ext>
                  </a:extLst>
                </p14:cNvPr>
                <p14:cNvContentPartPr/>
                <p14:nvPr/>
              </p14:nvContentPartPr>
              <p14:xfrm>
                <a:off x="8100018" y="4544211"/>
                <a:ext cx="3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67DEEEB-6650-7F5E-AF61-42C40A7DFEA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37378" y="448121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7845299-6F28-87BC-FF4C-81EDF65976A8}"/>
                    </a:ext>
                  </a:extLst>
                </p14:cNvPr>
                <p14:cNvContentPartPr/>
                <p14:nvPr/>
              </p14:nvContentPartPr>
              <p14:xfrm>
                <a:off x="8109378" y="4461051"/>
                <a:ext cx="3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7845299-6F28-87BC-FF4C-81EDF65976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46378" y="439841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8807F56-21D4-046D-FD43-CFA8FF4DBA73}"/>
                    </a:ext>
                  </a:extLst>
                </p14:cNvPr>
                <p14:cNvContentPartPr/>
                <p14:nvPr/>
              </p14:nvContentPartPr>
              <p14:xfrm>
                <a:off x="8109378" y="4452051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8807F56-21D4-046D-FD43-CFA8FF4DBA7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46378" y="438905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D6027DE-E59C-1FE9-C137-78A6BBA25F3B}"/>
                    </a:ext>
                  </a:extLst>
                </p14:cNvPr>
                <p14:cNvContentPartPr/>
                <p14:nvPr/>
              </p14:nvContentPartPr>
              <p14:xfrm>
                <a:off x="8100018" y="4396611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D6027DE-E59C-1FE9-C137-78A6BBA25F3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37378" y="433361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BA47886-5FD6-EC1F-2B3E-BC41A26E06B0}"/>
                    </a:ext>
                  </a:extLst>
                </p14:cNvPr>
                <p14:cNvContentPartPr/>
                <p14:nvPr/>
              </p14:nvContentPartPr>
              <p14:xfrm>
                <a:off x="8091018" y="4341171"/>
                <a:ext cx="36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BA47886-5FD6-EC1F-2B3E-BC41A26E06B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28378" y="427817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E5411B2-F524-799F-DA49-7EE8AF2CC010}"/>
                    </a:ext>
                  </a:extLst>
                </p14:cNvPr>
                <p14:cNvContentPartPr/>
                <p14:nvPr/>
              </p14:nvContentPartPr>
              <p14:xfrm>
                <a:off x="8091018" y="4276011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E5411B2-F524-799F-DA49-7EE8AF2CC01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28378" y="421337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5F00800-51C3-30AF-54BE-8FBB42590526}"/>
                    </a:ext>
                  </a:extLst>
                </p14:cNvPr>
                <p14:cNvContentPartPr/>
                <p14:nvPr/>
              </p14:nvContentPartPr>
              <p14:xfrm>
                <a:off x="8062938" y="4230291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5F00800-51C3-30AF-54BE-8FBB4259052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00298" y="416765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9E0A8F3-B6CC-F3C7-4E8C-29EE3462BF14}"/>
                    </a:ext>
                  </a:extLst>
                </p14:cNvPr>
                <p14:cNvContentPartPr/>
                <p14:nvPr/>
              </p14:nvContentPartPr>
              <p14:xfrm>
                <a:off x="8062938" y="4146771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9E0A8F3-B6CC-F3C7-4E8C-29EE3462BF1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00298" y="40841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D73003C-4C52-3C55-79EF-28D157E0FDCC}"/>
                    </a:ext>
                  </a:extLst>
                </p14:cNvPr>
                <p14:cNvContentPartPr/>
                <p14:nvPr/>
              </p14:nvContentPartPr>
              <p14:xfrm>
                <a:off x="8082018" y="4119411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D73003C-4C52-3C55-79EF-28D157E0FDC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19018" y="405677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3C07597-71A0-56EE-9309-29B8F24E255F}"/>
              </a:ext>
            </a:extLst>
          </p:cNvPr>
          <p:cNvCxnSpPr>
            <a:cxnSpLocks/>
          </p:cNvCxnSpPr>
          <p:nvPr/>
        </p:nvCxnSpPr>
        <p:spPr>
          <a:xfrm>
            <a:off x="6326909" y="4045527"/>
            <a:ext cx="1126836" cy="62807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Sub3">
            <a:extLst>
              <a:ext uri="{FF2B5EF4-FFF2-40B4-BE49-F238E27FC236}">
                <a16:creationId xmlns:a16="http://schemas.microsoft.com/office/drawing/2014/main" id="{52764FC5-85B8-1CD3-59DE-01511AFE82FA}"/>
              </a:ext>
            </a:extLst>
          </p:cNvPr>
          <p:cNvSpPr txBox="1"/>
          <p:nvPr/>
        </p:nvSpPr>
        <p:spPr>
          <a:xfrm>
            <a:off x="7269378" y="5087545"/>
            <a:ext cx="1680000" cy="520000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ctr"/>
            <a:r>
              <a:rPr lang="en-US" sz="1100" b="1" dirty="0">
                <a:solidFill>
                  <a:srgbClr val="444444"/>
                </a:solidFill>
                <a:latin typeface="Arial"/>
              </a:rPr>
              <a:t>Runs ERC — catches
electrical violations</a:t>
            </a:r>
          </a:p>
        </p:txBody>
      </p:sp>
      <p:sp>
        <p:nvSpPr>
          <p:cNvPr id="45" name="Sub4">
            <a:extLst>
              <a:ext uri="{FF2B5EF4-FFF2-40B4-BE49-F238E27FC236}">
                <a16:creationId xmlns:a16="http://schemas.microsoft.com/office/drawing/2014/main" id="{150CC960-EDC3-8088-088B-A94E2A16DDBD}"/>
              </a:ext>
            </a:extLst>
          </p:cNvPr>
          <p:cNvSpPr txBox="1"/>
          <p:nvPr/>
        </p:nvSpPr>
        <p:spPr>
          <a:xfrm>
            <a:off x="7242018" y="2964968"/>
            <a:ext cx="1680000" cy="520000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ctr"/>
            <a:r>
              <a:rPr lang="en-US" sz="1100" b="1" dirty="0">
                <a:solidFill>
                  <a:srgbClr val="444444"/>
                </a:solidFill>
                <a:latin typeface="Arial"/>
              </a:rPr>
              <a:t>stm32_mvc.net
skidl_REPL.svg</a:t>
            </a:r>
          </a:p>
        </p:txBody>
      </p:sp>
    </p:spTree>
    <p:extLst>
      <p:ext uri="{BB962C8B-B14F-4D97-AF65-F5344CB8AC3E}">
        <p14:creationId xmlns:p14="http://schemas.microsoft.com/office/powerpoint/2010/main" val="3781840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"/>
          <p:cNvSpPr>
            <a:spLocks noGrp="1"/>
          </p:cNvSpPr>
          <p:nvPr>
            <p:ph type="sldNum" sz="quarter" idx="4294967295"/>
          </p:nvPr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>
            <a:normAutofit/>
          </a:bodyPr>
          <a:lstStyle/>
          <a:p>
            <a:fld id="{62A42E78-4FE3-4E16-9FB9-64A349BFE3FC}" type="slidenum">
              <a:rPr lang="en-US" smtClean="0">
                <a:latin typeface="Arial Narrow"/>
              </a:rPr>
              <a:pPr/>
              <a:t>4</a:t>
            </a:fld>
            <a:endParaRPr lang="en-US">
              <a:latin typeface="Arial Narrow"/>
            </a:endParaRPr>
          </a:p>
        </p:txBody>
      </p:sp>
      <p:sp>
        <p:nvSpPr>
          <p:cNvPr id="69" name="HeaderBar"/>
          <p:cNvSpPr>
            <a:spLocks/>
          </p:cNvSpPr>
          <p:nvPr/>
        </p:nvSpPr>
        <p:spPr>
          <a:xfrm>
            <a:off x="184526" y="-1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 anchorCtr="0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The Problem — What Engineers Waste Time On</a:t>
            </a:r>
          </a:p>
        </p:txBody>
      </p:sp>
      <p:sp>
        <p:nvSpPr>
          <p:cNvPr id="102" name="ContentBox"/>
          <p:cNvSpPr/>
          <p:nvPr/>
        </p:nvSpPr>
        <p:spPr>
          <a:xfrm>
            <a:off x="184833" y="1277814"/>
            <a:ext cx="11900000" cy="70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Why schematic entry for STM32 designs is slow and error-prone</a:t>
            </a:r>
          </a:p>
        </p:txBody>
      </p:sp>
      <p:sp>
        <p:nvSpPr>
          <p:cNvPr id="101" name="LabelBox_Pain"/>
          <p:cNvSpPr/>
          <p:nvPr/>
        </p:nvSpPr>
        <p:spPr>
          <a:xfrm>
            <a:off x="184833" y="2100000"/>
            <a:ext cx="1928582" cy="923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Pain 1</a:t>
            </a:r>
          </a:p>
        </p:txBody>
      </p:sp>
      <p:sp>
        <p:nvSpPr>
          <p:cNvPr id="2" name="ContentBox"/>
          <p:cNvSpPr/>
          <p:nvPr/>
        </p:nvSpPr>
        <p:spPr>
          <a:xfrm>
            <a:off x="2147460" y="2100000"/>
            <a:ext cx="9700000" cy="923331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Pin lookup: engineers manually search datasheets for every alternate function mapping on STM32</a:t>
            </a:r>
          </a:p>
        </p:txBody>
      </p:sp>
      <p:sp>
        <p:nvSpPr>
          <p:cNvPr id="3" name="LabelBox_Pain"/>
          <p:cNvSpPr/>
          <p:nvPr/>
        </p:nvSpPr>
        <p:spPr>
          <a:xfrm>
            <a:off x="184526" y="3150000"/>
            <a:ext cx="1928582" cy="923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Pain 2</a:t>
            </a:r>
          </a:p>
        </p:txBody>
      </p:sp>
      <p:sp>
        <p:nvSpPr>
          <p:cNvPr id="4" name="ContentBox"/>
          <p:cNvSpPr/>
          <p:nvPr/>
        </p:nvSpPr>
        <p:spPr>
          <a:xfrm>
            <a:off x="2147460" y="3150000"/>
            <a:ext cx="9700000" cy="923331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Repetition: same reset circuit, boot pin, decoupling caps — redrawn from scratch every board</a:t>
            </a:r>
          </a:p>
        </p:txBody>
      </p:sp>
      <p:sp>
        <p:nvSpPr>
          <p:cNvPr id="5" name="LabelBox_Pain"/>
          <p:cNvSpPr/>
          <p:nvPr/>
        </p:nvSpPr>
        <p:spPr>
          <a:xfrm>
            <a:off x="184526" y="4200000"/>
            <a:ext cx="1928582" cy="923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Pain 3</a:t>
            </a:r>
          </a:p>
        </p:txBody>
      </p:sp>
      <p:sp>
        <p:nvSpPr>
          <p:cNvPr id="7" name="ContentBox"/>
          <p:cNvSpPr/>
          <p:nvPr/>
        </p:nvSpPr>
        <p:spPr>
          <a:xfrm>
            <a:off x="2147460" y="4200000"/>
            <a:ext cx="9700000" cy="923331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Silent errors: wrong STM32 AF pin won't fail ERC — only fails on physical hardware</a:t>
            </a:r>
          </a:p>
        </p:txBody>
      </p:sp>
      <p:sp>
        <p:nvSpPr>
          <p:cNvPr id="8" name="LabelBox_Pain"/>
          <p:cNvSpPr/>
          <p:nvPr/>
        </p:nvSpPr>
        <p:spPr>
          <a:xfrm>
            <a:off x="184526" y="5250000"/>
            <a:ext cx="1928582" cy="923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Pain 4</a:t>
            </a:r>
          </a:p>
        </p:txBody>
      </p:sp>
      <p:sp>
        <p:nvSpPr>
          <p:cNvPr id="9" name="ContentBox"/>
          <p:cNvSpPr/>
          <p:nvPr/>
        </p:nvSpPr>
        <p:spPr>
          <a:xfrm>
            <a:off x="2147460" y="5250000"/>
            <a:ext cx="9700000" cy="923331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Scale: full STM32 application board has 150-300 components — manual entry takes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"/>
          <p:cNvSpPr>
            <a:spLocks noGrp="1"/>
          </p:cNvSpPr>
          <p:nvPr>
            <p:ph type="sldNum" sz="quarter" idx="4294967295"/>
          </p:nvPr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>
            <a:normAutofit/>
          </a:bodyPr>
          <a:lstStyle/>
          <a:p>
            <a:fld id="{62A42E78-4FE3-4E16-9FB9-64A349BFE3FC}" type="slidenum">
              <a:rPr lang="en-US" smtClean="0">
                <a:latin typeface="Arial Narrow"/>
              </a:rPr>
              <a:pPr/>
              <a:t>5</a:t>
            </a:fld>
            <a:endParaRPr lang="en-US">
              <a:latin typeface="Arial Narrow"/>
            </a:endParaRPr>
          </a:p>
        </p:txBody>
      </p:sp>
      <p:sp>
        <p:nvSpPr>
          <p:cNvPr id="69" name="Hdr"/>
          <p:cNvSpPr>
            <a:spLocks/>
          </p:cNvSpPr>
          <p:nvPr/>
        </p:nvSpPr>
        <p:spPr>
          <a:xfrm>
            <a:off x="184526" y="-1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What We Used</a:t>
            </a:r>
          </a:p>
        </p:txBody>
      </p:sp>
      <p:sp>
        <p:nvSpPr>
          <p:cNvPr id="100" name="FB100"/>
          <p:cNvSpPr/>
          <p:nvPr/>
        </p:nvSpPr>
        <p:spPr>
          <a:xfrm>
            <a:off x="250000" y="145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Framework</a:t>
            </a:r>
          </a:p>
        </p:txBody>
      </p:sp>
      <p:sp>
        <p:nvSpPr>
          <p:cNvPr id="150" name="FB150"/>
          <p:cNvSpPr/>
          <p:nvPr/>
        </p:nvSpPr>
        <p:spPr>
          <a:xfrm>
            <a:off x="250000" y="1950000"/>
            <a:ext cx="2100000" cy="80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PCBSchemaGen</a:t>
            </a:r>
          </a:p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arXiv:2602.00510</a:t>
            </a:r>
          </a:p>
        </p:txBody>
      </p:sp>
      <p:sp>
        <p:nvSpPr>
          <p:cNvPr id="101" name="FB101"/>
          <p:cNvSpPr/>
          <p:nvPr/>
        </p:nvSpPr>
        <p:spPr>
          <a:xfrm>
            <a:off x="2450000" y="145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0077A8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Code Gen</a:t>
            </a:r>
          </a:p>
        </p:txBody>
      </p:sp>
      <p:sp>
        <p:nvSpPr>
          <p:cNvPr id="151" name="FB151"/>
          <p:cNvSpPr/>
          <p:nvPr/>
        </p:nvSpPr>
        <p:spPr>
          <a:xfrm>
            <a:off x="2450000" y="1950000"/>
            <a:ext cx="2100000" cy="80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SKiDL</a:t>
            </a:r>
          </a:p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Python Library</a:t>
            </a:r>
          </a:p>
        </p:txBody>
      </p:sp>
      <p:sp>
        <p:nvSpPr>
          <p:cNvPr id="102" name="FB102"/>
          <p:cNvSpPr/>
          <p:nvPr/>
        </p:nvSpPr>
        <p:spPr>
          <a:xfrm>
            <a:off x="4650000" y="145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B8860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LLM</a:t>
            </a:r>
          </a:p>
        </p:txBody>
      </p:sp>
      <p:sp>
        <p:nvSpPr>
          <p:cNvPr id="152" name="FB152"/>
          <p:cNvSpPr/>
          <p:nvPr/>
        </p:nvSpPr>
        <p:spPr>
          <a:xfrm>
            <a:off x="4650000" y="1950000"/>
            <a:ext cx="2100000" cy="80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Qwen2.5-coder:7b</a:t>
            </a:r>
          </a:p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via Ollama (local)</a:t>
            </a:r>
          </a:p>
        </p:txBody>
      </p:sp>
      <p:sp>
        <p:nvSpPr>
          <p:cNvPr id="103" name="FB103"/>
          <p:cNvSpPr/>
          <p:nvPr/>
        </p:nvSpPr>
        <p:spPr>
          <a:xfrm>
            <a:off x="6850000" y="145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1B5E20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RAG</a:t>
            </a:r>
          </a:p>
        </p:txBody>
      </p:sp>
      <p:sp>
        <p:nvSpPr>
          <p:cNvPr id="153" name="FB153"/>
          <p:cNvSpPr/>
          <p:nvPr/>
        </p:nvSpPr>
        <p:spPr>
          <a:xfrm>
            <a:off x="6850000" y="1950000"/>
            <a:ext cx="2100000" cy="80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ChromaDB +</a:t>
            </a:r>
          </a:p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sentence-transformers</a:t>
            </a:r>
          </a:p>
        </p:txBody>
      </p:sp>
      <p:sp>
        <p:nvSpPr>
          <p:cNvPr id="104" name="FB104"/>
          <p:cNvSpPr/>
          <p:nvPr/>
        </p:nvSpPr>
        <p:spPr>
          <a:xfrm>
            <a:off x="9050000" y="145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55555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Compute</a:t>
            </a:r>
          </a:p>
        </p:txBody>
      </p:sp>
      <p:sp>
        <p:nvSpPr>
          <p:cNvPr id="154" name="FB154"/>
          <p:cNvSpPr/>
          <p:nvPr/>
        </p:nvSpPr>
        <p:spPr>
          <a:xfrm>
            <a:off x="9050000" y="1950000"/>
            <a:ext cx="2100000" cy="80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Lightning AI</a:t>
            </a:r>
          </a:p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Ubuntu 24.04 GPU</a:t>
            </a:r>
          </a:p>
        </p:txBody>
      </p:sp>
      <p:sp>
        <p:nvSpPr>
          <p:cNvPr id="200" name="FB200"/>
          <p:cNvSpPr/>
          <p:nvPr/>
        </p:nvSpPr>
        <p:spPr>
          <a:xfrm>
            <a:off x="250000" y="305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CCCCCC"/>
          </a:solidFill>
          <a:ln>
            <a:noFill/>
          </a:ln>
        </p:spPr>
        <p:txBody>
          <a:bodyPr anchor="ctr" anchorCtr="1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Research</a:t>
            </a:r>
          </a:p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Framework</a:t>
            </a:r>
          </a:p>
        </p:txBody>
      </p:sp>
      <p:sp>
        <p:nvSpPr>
          <p:cNvPr id="250" name="FB250"/>
          <p:cNvSpPr/>
          <p:nvPr/>
        </p:nvSpPr>
        <p:spPr>
          <a:xfrm>
            <a:off x="250000" y="3550000"/>
            <a:ext cx="2100000" cy="800000"/>
          </a:xfrm>
          <a:prstGeom prst="roundRect">
            <a:avLst>
              <a:gd name="adj" fmla="val 15000"/>
            </a:avLst>
          </a:prstGeom>
          <a:solidFill>
            <a:srgbClr val="EEEEEE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Used as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base pipeline</a:t>
            </a:r>
          </a:p>
        </p:txBody>
      </p:sp>
      <p:sp>
        <p:nvSpPr>
          <p:cNvPr id="201" name="FB201"/>
          <p:cNvSpPr/>
          <p:nvPr/>
        </p:nvSpPr>
        <p:spPr>
          <a:xfrm>
            <a:off x="2450000" y="305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CCCCCC"/>
          </a:solidFill>
          <a:ln>
            <a:noFill/>
          </a:ln>
        </p:spPr>
        <p:txBody>
          <a:bodyPr anchor="ctr" anchorCtr="1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Generates</a:t>
            </a:r>
          </a:p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KiCad Netlists</a:t>
            </a:r>
          </a:p>
        </p:txBody>
      </p:sp>
      <p:sp>
        <p:nvSpPr>
          <p:cNvPr id="251" name="FB251"/>
          <p:cNvSpPr/>
          <p:nvPr/>
        </p:nvSpPr>
        <p:spPr>
          <a:xfrm>
            <a:off x="2450000" y="3550000"/>
            <a:ext cx="2100000" cy="800000"/>
          </a:xfrm>
          <a:prstGeom prst="roundRect">
            <a:avLst>
              <a:gd name="adj" fmla="val 15000"/>
            </a:avLst>
          </a:prstGeom>
          <a:solidFill>
            <a:srgbClr val="EEEEEE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From Python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circuit code</a:t>
            </a:r>
          </a:p>
        </p:txBody>
      </p:sp>
      <p:sp>
        <p:nvSpPr>
          <p:cNvPr id="202" name="FB202"/>
          <p:cNvSpPr/>
          <p:nvPr/>
        </p:nvSpPr>
        <p:spPr>
          <a:xfrm>
            <a:off x="4650000" y="305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CCCCCC"/>
          </a:solidFill>
          <a:ln>
            <a:noFill/>
          </a:ln>
        </p:spPr>
        <p:txBody>
          <a:bodyPr anchor="ctr" anchorCtr="1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Local inference</a:t>
            </a:r>
          </a:p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No API cost</a:t>
            </a:r>
          </a:p>
        </p:txBody>
      </p:sp>
      <p:sp>
        <p:nvSpPr>
          <p:cNvPr id="252" name="FB252"/>
          <p:cNvSpPr/>
          <p:nvPr/>
        </p:nvSpPr>
        <p:spPr>
          <a:xfrm>
            <a:off x="4650000" y="3550000"/>
            <a:ext cx="2100000" cy="800000"/>
          </a:xfrm>
          <a:prstGeom prst="roundRect">
            <a:avLst>
              <a:gd name="adj" fmla="val 15000"/>
            </a:avLst>
          </a:prstGeom>
          <a:solidFill>
            <a:srgbClr val="EEEEEE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GPU accelerated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on Lightning AI</a:t>
            </a:r>
          </a:p>
        </p:txBody>
      </p:sp>
      <p:sp>
        <p:nvSpPr>
          <p:cNvPr id="203" name="FB203"/>
          <p:cNvSpPr/>
          <p:nvPr/>
        </p:nvSpPr>
        <p:spPr>
          <a:xfrm>
            <a:off x="6850000" y="305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CCCCCC"/>
          </a:solidFill>
          <a:ln>
            <a:noFill/>
          </a:ln>
        </p:spPr>
        <p:txBody>
          <a:bodyPr anchor="ctr" anchorCtr="1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338 chunks</a:t>
            </a:r>
          </a:p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STM32F411CE PDF</a:t>
            </a:r>
          </a:p>
        </p:txBody>
      </p:sp>
      <p:sp>
        <p:nvSpPr>
          <p:cNvPr id="253" name="FB253"/>
          <p:cNvSpPr/>
          <p:nvPr/>
        </p:nvSpPr>
        <p:spPr>
          <a:xfrm>
            <a:off x="6850000" y="3550000"/>
            <a:ext cx="2100000" cy="800000"/>
          </a:xfrm>
          <a:prstGeom prst="roundRect">
            <a:avLst>
              <a:gd name="adj" fmla="val 15000"/>
            </a:avLst>
          </a:prstGeom>
          <a:solidFill>
            <a:srgbClr val="EEEEEE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Locally embedded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no cloud needed</a:t>
            </a:r>
          </a:p>
        </p:txBody>
      </p:sp>
      <p:sp>
        <p:nvSpPr>
          <p:cNvPr id="204" name="FB204"/>
          <p:cNvSpPr/>
          <p:nvPr/>
        </p:nvSpPr>
        <p:spPr>
          <a:xfrm>
            <a:off x="9050000" y="305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CCCCCC"/>
          </a:solidFill>
          <a:ln>
            <a:noFill/>
          </a:ln>
        </p:spPr>
        <p:txBody>
          <a:bodyPr anchor="ctr" anchorCtr="1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Ubuntu 24.04</a:t>
            </a:r>
          </a:p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15GB RAM</a:t>
            </a:r>
          </a:p>
        </p:txBody>
      </p:sp>
      <p:sp>
        <p:nvSpPr>
          <p:cNvPr id="254" name="FB254"/>
          <p:cNvSpPr/>
          <p:nvPr/>
        </p:nvSpPr>
        <p:spPr>
          <a:xfrm>
            <a:off x="9050000" y="3550000"/>
            <a:ext cx="2100000" cy="800000"/>
          </a:xfrm>
          <a:prstGeom prst="roundRect">
            <a:avLst>
              <a:gd name="adj" fmla="val 15000"/>
            </a:avLst>
          </a:prstGeom>
          <a:solidFill>
            <a:srgbClr val="EEEEEE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T4 GPU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for inference</a:t>
            </a:r>
          </a:p>
        </p:txBody>
      </p:sp>
      <p:sp>
        <p:nvSpPr>
          <p:cNvPr id="300" name="FB300"/>
          <p:cNvSpPr/>
          <p:nvPr/>
        </p:nvSpPr>
        <p:spPr>
          <a:xfrm>
            <a:off x="250000" y="465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0077A8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KiCad 7</a:t>
            </a:r>
          </a:p>
        </p:txBody>
      </p:sp>
      <p:sp>
        <p:nvSpPr>
          <p:cNvPr id="350" name="FB350"/>
          <p:cNvSpPr/>
          <p:nvPr/>
        </p:nvSpPr>
        <p:spPr>
          <a:xfrm>
            <a:off x="250000" y="520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Netlist + SVG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Output</a:t>
            </a:r>
          </a:p>
        </p:txBody>
      </p:sp>
      <p:sp>
        <p:nvSpPr>
          <p:cNvPr id="301" name="FB301"/>
          <p:cNvSpPr/>
          <p:nvPr/>
        </p:nvSpPr>
        <p:spPr>
          <a:xfrm>
            <a:off x="2450000" y="465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B8860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SKiDL ERC</a:t>
            </a:r>
          </a:p>
        </p:txBody>
      </p:sp>
      <p:sp>
        <p:nvSpPr>
          <p:cNvPr id="351" name="FB351"/>
          <p:cNvSpPr/>
          <p:nvPr/>
        </p:nvSpPr>
        <p:spPr>
          <a:xfrm>
            <a:off x="2450000" y="520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Electrical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Rule Check</a:t>
            </a:r>
          </a:p>
        </p:txBody>
      </p:sp>
      <p:sp>
        <p:nvSpPr>
          <p:cNvPr id="302" name="FB302"/>
          <p:cNvSpPr/>
          <p:nvPr/>
        </p:nvSpPr>
        <p:spPr>
          <a:xfrm>
            <a:off x="4650000" y="465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1B5E20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ChromaDB</a:t>
            </a:r>
          </a:p>
        </p:txBody>
      </p:sp>
      <p:sp>
        <p:nvSpPr>
          <p:cNvPr id="352" name="FB352"/>
          <p:cNvSpPr/>
          <p:nvPr/>
        </p:nvSpPr>
        <p:spPr>
          <a:xfrm>
            <a:off x="4650000" y="520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Vector Store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Persistent</a:t>
            </a:r>
          </a:p>
        </p:txBody>
      </p:sp>
      <p:sp>
        <p:nvSpPr>
          <p:cNvPr id="303" name="FB303"/>
          <p:cNvSpPr/>
          <p:nvPr/>
        </p:nvSpPr>
        <p:spPr>
          <a:xfrm>
            <a:off x="6850000" y="465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Ollama</a:t>
            </a:r>
          </a:p>
        </p:txBody>
      </p:sp>
      <p:sp>
        <p:nvSpPr>
          <p:cNvPr id="353" name="FB353"/>
          <p:cNvSpPr/>
          <p:nvPr/>
        </p:nvSpPr>
        <p:spPr>
          <a:xfrm>
            <a:off x="6850000" y="520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Local Model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Runner</a:t>
            </a:r>
          </a:p>
        </p:txBody>
      </p:sp>
      <p:sp>
        <p:nvSpPr>
          <p:cNvPr id="304" name="FB304"/>
          <p:cNvSpPr/>
          <p:nvPr/>
        </p:nvSpPr>
        <p:spPr>
          <a:xfrm>
            <a:off x="9050000" y="465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55555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netlistsvg</a:t>
            </a:r>
          </a:p>
        </p:txBody>
      </p:sp>
      <p:sp>
        <p:nvSpPr>
          <p:cNvPr id="354" name="FB354"/>
          <p:cNvSpPr/>
          <p:nvPr/>
        </p:nvSpPr>
        <p:spPr>
          <a:xfrm>
            <a:off x="9050000" y="5200000"/>
            <a:ext cx="2100000" cy="50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SVG Schematic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Renderer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"/>
          <p:cNvSpPr>
            <a:spLocks noGrp="1"/>
          </p:cNvSpPr>
          <p:nvPr>
            <p:ph type="sldNum" sz="quarter" idx="4294967295"/>
          </p:nvPr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>
            <a:normAutofit/>
          </a:bodyPr>
          <a:lstStyle/>
          <a:p>
            <a:fld id="{62A42E78-4FE3-4E16-9FB9-64A349BFE3FC}" type="slidenum">
              <a:rPr lang="en-US" smtClean="0">
                <a:latin typeface="Arial Narrow"/>
              </a:rPr>
              <a:pPr/>
              <a:t>6</a:t>
            </a:fld>
            <a:endParaRPr lang="en-US">
              <a:latin typeface="Arial Narrow"/>
            </a:endParaRPr>
          </a:p>
        </p:txBody>
      </p:sp>
      <p:sp>
        <p:nvSpPr>
          <p:cNvPr id="69" name="HeaderBar"/>
          <p:cNvSpPr>
            <a:spLocks/>
          </p:cNvSpPr>
          <p:nvPr/>
        </p:nvSpPr>
        <p:spPr>
          <a:xfrm>
            <a:off x="184526" y="-1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 anchorCtr="0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Environment Setup — Challenges and Fixes</a:t>
            </a:r>
          </a:p>
        </p:txBody>
      </p:sp>
      <p:sp>
        <p:nvSpPr>
          <p:cNvPr id="102" name="ContentBox"/>
          <p:cNvSpPr/>
          <p:nvPr/>
        </p:nvSpPr>
        <p:spPr>
          <a:xfrm>
            <a:off x="184833" y="1277814"/>
            <a:ext cx="7500000" cy="50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Getting the pipeline running — challenges and fixes</a:t>
            </a:r>
          </a:p>
        </p:txBody>
      </p:sp>
      <p:sp>
        <p:nvSpPr>
          <p:cNvPr id="101" name="LabelBox_pcbn"/>
          <p:cNvSpPr/>
          <p:nvPr/>
        </p:nvSpPr>
        <p:spPr>
          <a:xfrm>
            <a:off x="184833" y="1950000"/>
            <a:ext cx="2800000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pcbnew import</a:t>
            </a:r>
          </a:p>
        </p:txBody>
      </p:sp>
      <p:sp>
        <p:nvSpPr>
          <p:cNvPr id="2" name="ContentBox"/>
          <p:cNvSpPr/>
          <p:nvPr/>
        </p:nvSpPr>
        <p:spPr>
          <a:xfrm>
            <a:off x="3100000" y="1950000"/>
            <a:ext cx="89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Fixed: Used Linux (WSL2/Lightning AI) — pcbnew importable only on Linux, not Windows</a:t>
            </a:r>
          </a:p>
        </p:txBody>
      </p:sp>
      <p:sp>
        <p:nvSpPr>
          <p:cNvPr id="3" name="LabelBox_Libr"/>
          <p:cNvSpPr/>
          <p:nvPr/>
        </p:nvSpPr>
        <p:spPr>
          <a:xfrm>
            <a:off x="184833" y="2850000"/>
            <a:ext cx="2800000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Library paths</a:t>
            </a:r>
          </a:p>
        </p:txBody>
      </p:sp>
      <p:sp>
        <p:nvSpPr>
          <p:cNvPr id="4" name="ContentBox"/>
          <p:cNvSpPr/>
          <p:nvPr/>
        </p:nvSpPr>
        <p:spPr>
          <a:xfrm>
            <a:off x="3100000" y="2850000"/>
            <a:ext cx="89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Fixed: Injected repo library path into SKiDL search paths inside subprocess</a:t>
            </a:r>
          </a:p>
        </p:txBody>
      </p:sp>
      <p:sp>
        <p:nvSpPr>
          <p:cNvPr id="5" name="LabelBox_Scri"/>
          <p:cNvSpPr/>
          <p:nvPr/>
        </p:nvSpPr>
        <p:spPr>
          <a:xfrm>
            <a:off x="184833" y="3750000"/>
            <a:ext cx="2800000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Script errors</a:t>
            </a:r>
          </a:p>
        </p:txBody>
      </p:sp>
      <p:sp>
        <p:nvSpPr>
          <p:cNvPr id="7" name="ContentBox"/>
          <p:cNvSpPr/>
          <p:nvPr/>
        </p:nvSpPr>
        <p:spPr>
          <a:xfrm>
            <a:off x="3100000" y="3750000"/>
            <a:ext cx="89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Fixed: Removed stray code and duplicate injection headers causing NameError</a:t>
            </a:r>
          </a:p>
        </p:txBody>
      </p:sp>
      <p:sp>
        <p:nvSpPr>
          <p:cNvPr id="8" name="LabelBox_netl"/>
          <p:cNvSpPr/>
          <p:nvPr/>
        </p:nvSpPr>
        <p:spPr>
          <a:xfrm>
            <a:off x="184833" y="4650000"/>
            <a:ext cx="2800000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netlistsvg</a:t>
            </a:r>
          </a:p>
        </p:txBody>
      </p:sp>
      <p:sp>
        <p:nvSpPr>
          <p:cNvPr id="9" name="ContentBox"/>
          <p:cNvSpPr/>
          <p:nvPr/>
        </p:nvSpPr>
        <p:spPr>
          <a:xfrm>
            <a:off x="3100000" y="4650000"/>
            <a:ext cx="89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Fixed: Installed Node.js and netlistsvg via npm for SVG schematic output</a:t>
            </a:r>
          </a:p>
        </p:txBody>
      </p:sp>
      <p:sp>
        <p:nvSpPr>
          <p:cNvPr id="10" name="LabelBox_Ubun"/>
          <p:cNvSpPr/>
          <p:nvPr/>
        </p:nvSpPr>
        <p:spPr>
          <a:xfrm>
            <a:off x="184833" y="5550000"/>
            <a:ext cx="2800000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Ubuntu 24.04</a:t>
            </a:r>
          </a:p>
        </p:txBody>
      </p:sp>
      <p:sp>
        <p:nvSpPr>
          <p:cNvPr id="11" name="ContentBox"/>
          <p:cNvSpPr/>
          <p:nvPr/>
        </p:nvSpPr>
        <p:spPr>
          <a:xfrm>
            <a:off x="3100000" y="5550000"/>
            <a:ext cx="89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Fixed: KiCad 9 PPA not available — KiCad 7 confirmed fully compatible with repo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"/>
          <p:cNvSpPr>
            <a:spLocks noGrp="1"/>
          </p:cNvSpPr>
          <p:nvPr>
            <p:ph type="sldNum" sz="quarter" idx="4294967295"/>
          </p:nvPr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>
            <a:normAutofit/>
          </a:bodyPr>
          <a:lstStyle/>
          <a:p>
            <a:fld id="{62A42E78-4FE3-4E16-9FB9-64A349BFE3FC}" type="slidenum">
              <a:rPr lang="en-US" smtClean="0">
                <a:latin typeface="Arial Narrow"/>
              </a:rPr>
              <a:pPr/>
              <a:t>7</a:t>
            </a:fld>
            <a:endParaRPr lang="en-US">
              <a:latin typeface="Arial Narrow"/>
            </a:endParaRPr>
          </a:p>
        </p:txBody>
      </p:sp>
      <p:sp>
        <p:nvSpPr>
          <p:cNvPr id="69" name="HeaderBar"/>
          <p:cNvSpPr>
            <a:spLocks/>
          </p:cNvSpPr>
          <p:nvPr/>
        </p:nvSpPr>
        <p:spPr>
          <a:xfrm>
            <a:off x="184526" y="-1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 anchorCtr="0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Sample Test Results — 17/17 Passing</a:t>
            </a:r>
          </a:p>
        </p:txBody>
      </p:sp>
      <p:sp>
        <p:nvSpPr>
          <p:cNvPr id="102" name="ContentBox"/>
          <p:cNvSpPr/>
          <p:nvPr/>
        </p:nvSpPr>
        <p:spPr>
          <a:xfrm>
            <a:off x="184833" y="1277814"/>
            <a:ext cx="5800000" cy="50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 fontScale="92500" lnSpcReduction="20000"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Proof of working infrastructure — all 17 sample design tests passing</a:t>
            </a:r>
          </a:p>
        </p:txBody>
      </p:sp>
      <p:sp>
        <p:nvSpPr>
          <p:cNvPr id="101" name="LabelBox_Resu"/>
          <p:cNvSpPr/>
          <p:nvPr/>
        </p:nvSpPr>
        <p:spPr>
          <a:xfrm>
            <a:off x="184833" y="1950000"/>
            <a:ext cx="1928582" cy="923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Result</a:t>
            </a:r>
          </a:p>
        </p:txBody>
      </p:sp>
      <p:sp>
        <p:nvSpPr>
          <p:cNvPr id="2" name="ContentBox"/>
          <p:cNvSpPr/>
          <p:nvPr/>
        </p:nvSpPr>
        <p:spPr>
          <a:xfrm>
            <a:off x="2147460" y="1950000"/>
            <a:ext cx="3700000" cy="923331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17 / 17 sample tasks PASS</a:t>
            </a:r>
          </a:p>
        </p:txBody>
      </p:sp>
      <p:sp>
        <p:nvSpPr>
          <p:cNvPr id="3" name="ContentBox"/>
          <p:cNvSpPr/>
          <p:nvPr/>
        </p:nvSpPr>
        <p:spPr>
          <a:xfrm>
            <a:off x="184833" y="3050000"/>
            <a:ext cx="5800000" cy="370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Tasks span digital, analog, and power circuit types</a:t>
            </a:r>
          </a:p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Voltage dividers, LDO regulators, half-bridge gate drivers,</a:t>
            </a:r>
          </a:p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isolated amplifiers, synchronous buck converters,</a:t>
            </a:r>
          </a:p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and full 3-phase inverter designs</a:t>
            </a:r>
          </a:p>
          <a:p>
            <a:endParaRPr lang="en-US"/>
          </a:p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All passing before any LLM call is made —</a:t>
            </a:r>
          </a:p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confirms pipeline infrastructure is solid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7C1AB-4F04-5B74-380D-21EEA2229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542" y="2368731"/>
            <a:ext cx="5469900" cy="41672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"/>
          <p:cNvSpPr>
            <a:spLocks noGrp="1"/>
          </p:cNvSpPr>
          <p:nvPr>
            <p:ph type="sldNum" sz="quarter" idx="4294967295"/>
          </p:nvPr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>
            <a:normAutofit/>
          </a:bodyPr>
          <a:lstStyle/>
          <a:p>
            <a:fld id="{62A42E78-4FE3-4E16-9FB9-64A349BFE3FC}" type="slidenum">
              <a:rPr lang="en-US" smtClean="0">
                <a:latin typeface="Arial Narrow"/>
              </a:rPr>
              <a:pPr/>
              <a:t>8</a:t>
            </a:fld>
            <a:endParaRPr lang="en-US">
              <a:latin typeface="Arial Narrow"/>
            </a:endParaRPr>
          </a:p>
        </p:txBody>
      </p:sp>
      <p:sp>
        <p:nvSpPr>
          <p:cNvPr id="69" name="Hdr"/>
          <p:cNvSpPr>
            <a:spLocks/>
          </p:cNvSpPr>
          <p:nvPr/>
        </p:nvSpPr>
        <p:spPr>
          <a:xfrm>
            <a:off x="184526" y="15239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LLM Models Comparison</a:t>
            </a:r>
          </a:p>
        </p:txBody>
      </p:sp>
      <p:sp>
        <p:nvSpPr>
          <p:cNvPr id="100" name="FB100"/>
          <p:cNvSpPr/>
          <p:nvPr/>
        </p:nvSpPr>
        <p:spPr>
          <a:xfrm>
            <a:off x="200000" y="1380000"/>
            <a:ext cx="1800000" cy="68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101" name="FB101"/>
          <p:cNvSpPr/>
          <p:nvPr/>
        </p:nvSpPr>
        <p:spPr>
          <a:xfrm>
            <a:off x="2030000" y="13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Syntax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Correct</a:t>
            </a:r>
          </a:p>
        </p:txBody>
      </p:sp>
      <p:sp>
        <p:nvSpPr>
          <p:cNvPr id="102" name="FB102"/>
          <p:cNvSpPr/>
          <p:nvPr/>
        </p:nvSpPr>
        <p:spPr>
          <a:xfrm>
            <a:off x="3760000" y="13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Task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Following</a:t>
            </a:r>
          </a:p>
        </p:txBody>
      </p:sp>
      <p:sp>
        <p:nvSpPr>
          <p:cNvPr id="103" name="FB103"/>
          <p:cNvSpPr/>
          <p:nvPr/>
        </p:nvSpPr>
        <p:spPr>
          <a:xfrm>
            <a:off x="5490000" y="13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Topology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Pass</a:t>
            </a:r>
          </a:p>
        </p:txBody>
      </p:sp>
      <p:sp>
        <p:nvSpPr>
          <p:cNvPr id="104" name="FB104"/>
          <p:cNvSpPr/>
          <p:nvPr/>
        </p:nvSpPr>
        <p:spPr>
          <a:xfrm>
            <a:off x="7220000" y="13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Speed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on CPU</a:t>
            </a:r>
          </a:p>
        </p:txBody>
      </p:sp>
      <p:sp>
        <p:nvSpPr>
          <p:cNvPr id="105" name="FB105"/>
          <p:cNvSpPr/>
          <p:nvPr/>
        </p:nvSpPr>
        <p:spPr>
          <a:xfrm>
            <a:off x="8950000" y="1380000"/>
            <a:ext cx="2100000" cy="68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Verdict</a:t>
            </a:r>
          </a:p>
        </p:txBody>
      </p:sp>
      <p:sp>
        <p:nvSpPr>
          <p:cNvPr id="200" name="FB200"/>
          <p:cNvSpPr/>
          <p:nvPr/>
        </p:nvSpPr>
        <p:spPr>
          <a:xfrm>
            <a:off x="200000" y="2080000"/>
            <a:ext cx="1800000" cy="680000"/>
          </a:xfrm>
          <a:prstGeom prst="roundRect">
            <a:avLst>
              <a:gd name="adj" fmla="val 15000"/>
            </a:avLst>
          </a:prstGeom>
          <a:solidFill>
            <a:srgbClr val="BBBBB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Qwen2.5-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coder:3b</a:t>
            </a:r>
          </a:p>
        </p:txBody>
      </p:sp>
      <p:sp>
        <p:nvSpPr>
          <p:cNvPr id="201" name="FB201"/>
          <p:cNvSpPr/>
          <p:nvPr/>
        </p:nvSpPr>
        <p:spPr>
          <a:xfrm>
            <a:off x="2030000" y="20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777777"/>
                </a:solidFill>
                <a:latin typeface="Arial"/>
              </a:rPr>
              <a:t>✗ Wrong</a:t>
            </a:r>
          </a:p>
          <a:p>
            <a:pPr algn="ctr"/>
            <a:r>
              <a:rPr lang="en-US" sz="1200" b="1" dirty="0">
                <a:solidFill>
                  <a:srgbClr val="777777"/>
                </a:solidFill>
                <a:latin typeface="Arial"/>
              </a:rPr>
              <a:t>syntax</a:t>
            </a:r>
          </a:p>
        </p:txBody>
      </p:sp>
      <p:sp>
        <p:nvSpPr>
          <p:cNvPr id="202" name="FB202"/>
          <p:cNvSpPr/>
          <p:nvPr/>
        </p:nvSpPr>
        <p:spPr>
          <a:xfrm>
            <a:off x="3760000" y="20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777777"/>
                </a:solidFill>
                <a:latin typeface="Arial"/>
              </a:rPr>
              <a:t>✗ Ignores</a:t>
            </a:r>
          </a:p>
          <a:p>
            <a:pPr algn="ctr"/>
            <a:r>
              <a:rPr lang="en-US" sz="1200" b="1" dirty="0">
                <a:solidFill>
                  <a:srgbClr val="777777"/>
                </a:solidFill>
                <a:latin typeface="Arial"/>
              </a:rPr>
              <a:t>task</a:t>
            </a:r>
          </a:p>
        </p:txBody>
      </p:sp>
      <p:sp>
        <p:nvSpPr>
          <p:cNvPr id="203" name="FB203"/>
          <p:cNvSpPr/>
          <p:nvPr/>
        </p:nvSpPr>
        <p:spPr>
          <a:xfrm>
            <a:off x="5490000" y="20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777777"/>
                </a:solidFill>
                <a:latin typeface="Arial"/>
              </a:rPr>
              <a:t>✗ FAIL</a:t>
            </a:r>
          </a:p>
        </p:txBody>
      </p:sp>
      <p:sp>
        <p:nvSpPr>
          <p:cNvPr id="204" name="FB204"/>
          <p:cNvSpPr/>
          <p:nvPr/>
        </p:nvSpPr>
        <p:spPr>
          <a:xfrm>
            <a:off x="7220000" y="20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777777"/>
                </a:solidFill>
                <a:latin typeface="Arial"/>
              </a:rPr>
              <a:t>Fast</a:t>
            </a:r>
          </a:p>
        </p:txBody>
      </p:sp>
      <p:sp>
        <p:nvSpPr>
          <p:cNvPr id="205" name="FB205"/>
          <p:cNvSpPr/>
          <p:nvPr/>
        </p:nvSpPr>
        <p:spPr>
          <a:xfrm>
            <a:off x="8950000" y="2080000"/>
            <a:ext cx="2100000" cy="68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777777"/>
                </a:solidFill>
                <a:latin typeface="Arial"/>
              </a:rPr>
              <a:t>Too small</a:t>
            </a:r>
          </a:p>
          <a:p>
            <a:pPr algn="ctr"/>
            <a:r>
              <a:rPr lang="en-US" sz="1200" b="1" dirty="0">
                <a:solidFill>
                  <a:srgbClr val="777777"/>
                </a:solidFill>
                <a:latin typeface="Arial"/>
              </a:rPr>
              <a:t>for SKiDL</a:t>
            </a:r>
          </a:p>
        </p:txBody>
      </p:sp>
      <p:sp>
        <p:nvSpPr>
          <p:cNvPr id="210" name="FB210"/>
          <p:cNvSpPr/>
          <p:nvPr/>
        </p:nvSpPr>
        <p:spPr>
          <a:xfrm>
            <a:off x="200000" y="2780000"/>
            <a:ext cx="1800000" cy="680000"/>
          </a:xfrm>
          <a:prstGeom prst="roundRect">
            <a:avLst>
              <a:gd name="adj" fmla="val 15000"/>
            </a:avLst>
          </a:prstGeom>
          <a:solidFill>
            <a:srgbClr val="0077A8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Qwen2.5-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coder:7b</a:t>
            </a:r>
          </a:p>
        </p:txBody>
      </p:sp>
      <p:sp>
        <p:nvSpPr>
          <p:cNvPr id="211" name="FB211"/>
          <p:cNvSpPr/>
          <p:nvPr/>
        </p:nvSpPr>
        <p:spPr>
          <a:xfrm>
            <a:off x="2030000" y="27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EDF4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✓ Correct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SKiDL</a:t>
            </a:r>
          </a:p>
        </p:txBody>
      </p:sp>
      <p:sp>
        <p:nvSpPr>
          <p:cNvPr id="212" name="FB212"/>
          <p:cNvSpPr/>
          <p:nvPr/>
        </p:nvSpPr>
        <p:spPr>
          <a:xfrm>
            <a:off x="3760000" y="27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EDF4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Partial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(Task 1 ok)</a:t>
            </a:r>
          </a:p>
        </p:txBody>
      </p:sp>
      <p:sp>
        <p:nvSpPr>
          <p:cNvPr id="213" name="FB213"/>
          <p:cNvSpPr/>
          <p:nvPr/>
        </p:nvSpPr>
        <p:spPr>
          <a:xfrm>
            <a:off x="5490000" y="27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EDF4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Partial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(Task 1 only)</a:t>
            </a:r>
          </a:p>
        </p:txBody>
      </p:sp>
      <p:sp>
        <p:nvSpPr>
          <p:cNvPr id="214" name="FB214"/>
          <p:cNvSpPr/>
          <p:nvPr/>
        </p:nvSpPr>
        <p:spPr>
          <a:xfrm>
            <a:off x="7220000" y="27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EDF4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Medium</a:t>
            </a:r>
          </a:p>
        </p:txBody>
      </p:sp>
      <p:sp>
        <p:nvSpPr>
          <p:cNvPr id="215" name="FB215"/>
          <p:cNvSpPr/>
          <p:nvPr/>
        </p:nvSpPr>
        <p:spPr>
          <a:xfrm>
            <a:off x="8950000" y="2780000"/>
            <a:ext cx="2100000" cy="680000"/>
          </a:xfrm>
          <a:prstGeom prst="roundRect">
            <a:avLst>
              <a:gd name="adj" fmla="val 15000"/>
            </a:avLst>
          </a:prstGeom>
          <a:solidFill>
            <a:srgbClr val="EDF4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Good for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simple circuits</a:t>
            </a:r>
          </a:p>
        </p:txBody>
      </p:sp>
      <p:sp>
        <p:nvSpPr>
          <p:cNvPr id="220" name="FB220"/>
          <p:cNvSpPr/>
          <p:nvPr/>
        </p:nvSpPr>
        <p:spPr>
          <a:xfrm>
            <a:off x="200000" y="3480000"/>
            <a:ext cx="1800000" cy="680000"/>
          </a:xfrm>
          <a:prstGeom prst="roundRect">
            <a:avLst>
              <a:gd name="adj" fmla="val 15000"/>
            </a:avLst>
          </a:prstGeom>
          <a:solidFill>
            <a:srgbClr val="B8860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Qwen3:8b</a:t>
            </a:r>
          </a:p>
        </p:txBody>
      </p:sp>
      <p:sp>
        <p:nvSpPr>
          <p:cNvPr id="221" name="FB221"/>
          <p:cNvSpPr/>
          <p:nvPr/>
        </p:nvSpPr>
        <p:spPr>
          <a:xfrm>
            <a:off x="2030000" y="34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FFF8E1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✓ Correct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SKiDL</a:t>
            </a:r>
          </a:p>
        </p:txBody>
      </p:sp>
      <p:sp>
        <p:nvSpPr>
          <p:cNvPr id="222" name="FB222"/>
          <p:cNvSpPr/>
          <p:nvPr/>
        </p:nvSpPr>
        <p:spPr>
          <a:xfrm>
            <a:off x="3760000" y="34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FFF8E1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Better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(thinking mode)</a:t>
            </a:r>
          </a:p>
        </p:txBody>
      </p:sp>
      <p:sp>
        <p:nvSpPr>
          <p:cNvPr id="223" name="FB223"/>
          <p:cNvSpPr/>
          <p:nvPr/>
        </p:nvSpPr>
        <p:spPr>
          <a:xfrm>
            <a:off x="5490000" y="34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FFF8E1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Task 1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passes GPU</a:t>
            </a:r>
          </a:p>
        </p:txBody>
      </p:sp>
      <p:sp>
        <p:nvSpPr>
          <p:cNvPr id="224" name="FB224"/>
          <p:cNvSpPr/>
          <p:nvPr/>
        </p:nvSpPr>
        <p:spPr>
          <a:xfrm>
            <a:off x="7220000" y="34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FFF8E1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Slow CPU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Fast GPU</a:t>
            </a:r>
          </a:p>
        </p:txBody>
      </p:sp>
      <p:sp>
        <p:nvSpPr>
          <p:cNvPr id="225" name="FB225"/>
          <p:cNvSpPr/>
          <p:nvPr/>
        </p:nvSpPr>
        <p:spPr>
          <a:xfrm>
            <a:off x="8950000" y="3480000"/>
            <a:ext cx="2100000" cy="680000"/>
          </a:xfrm>
          <a:prstGeom prst="roundRect">
            <a:avLst>
              <a:gd name="adj" fmla="val 15000"/>
            </a:avLst>
          </a:prstGeom>
          <a:solidFill>
            <a:srgbClr val="FFF8E1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Best local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option</a:t>
            </a:r>
          </a:p>
        </p:txBody>
      </p:sp>
      <p:sp>
        <p:nvSpPr>
          <p:cNvPr id="230" name="FB230"/>
          <p:cNvSpPr/>
          <p:nvPr/>
        </p:nvSpPr>
        <p:spPr>
          <a:xfrm>
            <a:off x="200000" y="4180000"/>
            <a:ext cx="1800000" cy="680000"/>
          </a:xfrm>
          <a:prstGeom prst="roundRect">
            <a:avLst>
              <a:gd name="adj" fmla="val 15000"/>
            </a:avLst>
          </a:prstGeom>
          <a:solidFill>
            <a:srgbClr val="1B5E20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Claude Sonnet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(API)</a:t>
            </a:r>
          </a:p>
        </p:txBody>
      </p:sp>
      <p:sp>
        <p:nvSpPr>
          <p:cNvPr id="231" name="FB231"/>
          <p:cNvSpPr/>
          <p:nvPr/>
        </p:nvSpPr>
        <p:spPr>
          <a:xfrm>
            <a:off x="2030000" y="41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✓ Perfect</a:t>
            </a:r>
          </a:p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SKiDL</a:t>
            </a:r>
          </a:p>
        </p:txBody>
      </p:sp>
      <p:sp>
        <p:nvSpPr>
          <p:cNvPr id="232" name="FB232"/>
          <p:cNvSpPr/>
          <p:nvPr/>
        </p:nvSpPr>
        <p:spPr>
          <a:xfrm>
            <a:off x="3760000" y="41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✓ Full</a:t>
            </a:r>
          </a:p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compliance</a:t>
            </a:r>
          </a:p>
        </p:txBody>
      </p:sp>
      <p:sp>
        <p:nvSpPr>
          <p:cNvPr id="233" name="FB233"/>
          <p:cNvSpPr/>
          <p:nvPr/>
        </p:nvSpPr>
        <p:spPr>
          <a:xfrm>
            <a:off x="5490000" y="41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✓ Expected</a:t>
            </a:r>
          </a:p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full pass</a:t>
            </a:r>
          </a:p>
        </p:txBody>
      </p:sp>
      <p:sp>
        <p:nvSpPr>
          <p:cNvPr id="234" name="FB234"/>
          <p:cNvSpPr/>
          <p:nvPr/>
        </p:nvSpPr>
        <p:spPr>
          <a:xfrm>
            <a:off x="7220000" y="4180000"/>
            <a:ext cx="1700000" cy="68000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Fast</a:t>
            </a:r>
          </a:p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(API)</a:t>
            </a:r>
          </a:p>
        </p:txBody>
      </p:sp>
      <p:sp>
        <p:nvSpPr>
          <p:cNvPr id="235" name="FB235"/>
          <p:cNvSpPr/>
          <p:nvPr/>
        </p:nvSpPr>
        <p:spPr>
          <a:xfrm>
            <a:off x="8950000" y="4180000"/>
            <a:ext cx="2100000" cy="68000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Recommended</a:t>
            </a:r>
          </a:p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for production</a:t>
            </a:r>
          </a:p>
        </p:txBody>
      </p:sp>
      <p:sp>
        <p:nvSpPr>
          <p:cNvPr id="400" name="FB400"/>
          <p:cNvSpPr/>
          <p:nvPr/>
        </p:nvSpPr>
        <p:spPr>
          <a:xfrm>
            <a:off x="200000" y="4980000"/>
            <a:ext cx="11700000" cy="48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Key finding: SKiDL syntax is solved by 7B+ models. Complex IC reasoning needs frontier LLM or strong RAG grounding.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"/>
          <p:cNvSpPr>
            <a:spLocks noGrp="1"/>
          </p:cNvSpPr>
          <p:nvPr>
            <p:ph type="sldNum" sz="quarter" idx="4294967295"/>
          </p:nvPr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>
            <a:normAutofit/>
          </a:bodyPr>
          <a:lstStyle/>
          <a:p>
            <a:fld id="{62A42E78-4FE3-4E16-9FB9-64A349BFE3FC}" type="slidenum">
              <a:rPr lang="en-US" smtClean="0">
                <a:latin typeface="Arial Narrow"/>
              </a:rPr>
              <a:pPr/>
              <a:t>9</a:t>
            </a:fld>
            <a:endParaRPr lang="en-US">
              <a:latin typeface="Arial Narrow"/>
            </a:endParaRPr>
          </a:p>
        </p:txBody>
      </p:sp>
      <p:sp>
        <p:nvSpPr>
          <p:cNvPr id="69" name="Hdr"/>
          <p:cNvSpPr>
            <a:spLocks/>
          </p:cNvSpPr>
          <p:nvPr/>
        </p:nvSpPr>
        <p:spPr>
          <a:xfrm>
            <a:off x="184526" y="-1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RAG System — The Brain</a:t>
            </a:r>
          </a:p>
        </p:txBody>
      </p:sp>
      <p:sp>
        <p:nvSpPr>
          <p:cNvPr id="100" name="FB100"/>
          <p:cNvSpPr/>
          <p:nvPr/>
        </p:nvSpPr>
        <p:spPr>
          <a:xfrm>
            <a:off x="200000" y="1450000"/>
            <a:ext cx="400000" cy="68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0" name="FB150"/>
          <p:cNvSpPr/>
          <p:nvPr/>
        </p:nvSpPr>
        <p:spPr>
          <a:xfrm>
            <a:off x="700000" y="1450000"/>
            <a:ext cx="5100000" cy="68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Download STM32F411CE PDF</a:t>
            </a:r>
          </a:p>
        </p:txBody>
      </p:sp>
      <p:sp>
        <p:nvSpPr>
          <p:cNvPr id="200" name="ArrowD200"/>
          <p:cNvSpPr/>
          <p:nvPr/>
        </p:nvSpPr>
        <p:spPr>
          <a:xfrm>
            <a:off x="390000" y="2130000"/>
            <a:ext cx="220000" cy="22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323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FB101"/>
          <p:cNvSpPr/>
          <p:nvPr/>
        </p:nvSpPr>
        <p:spPr>
          <a:xfrm>
            <a:off x="200000" y="2350000"/>
            <a:ext cx="400000" cy="680000"/>
          </a:xfrm>
          <a:prstGeom prst="roundRect">
            <a:avLst>
              <a:gd name="adj" fmla="val 15000"/>
            </a:avLst>
          </a:prstGeom>
          <a:solidFill>
            <a:srgbClr val="0077A8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1" name="FB151"/>
          <p:cNvSpPr/>
          <p:nvPr/>
        </p:nvSpPr>
        <p:spPr>
          <a:xfrm>
            <a:off x="700000" y="2350000"/>
            <a:ext cx="5100000" cy="68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Extract text with PyMuPDF</a:t>
            </a:r>
          </a:p>
        </p:txBody>
      </p:sp>
      <p:sp>
        <p:nvSpPr>
          <p:cNvPr id="201" name="ArrowD201"/>
          <p:cNvSpPr/>
          <p:nvPr/>
        </p:nvSpPr>
        <p:spPr>
          <a:xfrm>
            <a:off x="390000" y="3030000"/>
            <a:ext cx="220000" cy="22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7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FB102"/>
          <p:cNvSpPr/>
          <p:nvPr/>
        </p:nvSpPr>
        <p:spPr>
          <a:xfrm>
            <a:off x="200000" y="3250000"/>
            <a:ext cx="400000" cy="680000"/>
          </a:xfrm>
          <a:prstGeom prst="roundRect">
            <a:avLst>
              <a:gd name="adj" fmla="val 15000"/>
            </a:avLst>
          </a:prstGeom>
          <a:solidFill>
            <a:srgbClr val="0077A8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2" name="FB152"/>
          <p:cNvSpPr/>
          <p:nvPr/>
        </p:nvSpPr>
        <p:spPr>
          <a:xfrm>
            <a:off x="700000" y="3250000"/>
            <a:ext cx="5100000" cy="68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Chunk at ~800 tokens each</a:t>
            </a:r>
          </a:p>
        </p:txBody>
      </p:sp>
      <p:sp>
        <p:nvSpPr>
          <p:cNvPr id="202" name="ArrowD202"/>
          <p:cNvSpPr/>
          <p:nvPr/>
        </p:nvSpPr>
        <p:spPr>
          <a:xfrm>
            <a:off x="390000" y="3930000"/>
            <a:ext cx="220000" cy="22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7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FB103"/>
          <p:cNvSpPr/>
          <p:nvPr/>
        </p:nvSpPr>
        <p:spPr>
          <a:xfrm>
            <a:off x="200000" y="4150000"/>
            <a:ext cx="400000" cy="680000"/>
          </a:xfrm>
          <a:prstGeom prst="roundRect">
            <a:avLst>
              <a:gd name="adj" fmla="val 15000"/>
            </a:avLst>
          </a:prstGeom>
          <a:solidFill>
            <a:srgbClr val="B8860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3" name="FB153"/>
          <p:cNvSpPr/>
          <p:nvPr/>
        </p:nvSpPr>
        <p:spPr>
          <a:xfrm>
            <a:off x="700000" y="4150000"/>
            <a:ext cx="5100000" cy="68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Embed with sentence-transformers</a:t>
            </a:r>
          </a:p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(all-MiniLM-L6-v2, runs locally)</a:t>
            </a:r>
          </a:p>
        </p:txBody>
      </p:sp>
      <p:sp>
        <p:nvSpPr>
          <p:cNvPr id="203" name="ArrowD203"/>
          <p:cNvSpPr/>
          <p:nvPr/>
        </p:nvSpPr>
        <p:spPr>
          <a:xfrm>
            <a:off x="390000" y="4830000"/>
            <a:ext cx="220000" cy="22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886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FB104"/>
          <p:cNvSpPr/>
          <p:nvPr/>
        </p:nvSpPr>
        <p:spPr>
          <a:xfrm>
            <a:off x="200000" y="5050000"/>
            <a:ext cx="400000" cy="680000"/>
          </a:xfrm>
          <a:prstGeom prst="roundRect">
            <a:avLst>
              <a:gd name="adj" fmla="val 15000"/>
            </a:avLst>
          </a:prstGeom>
          <a:solidFill>
            <a:srgbClr val="1B5E20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4" name="FB154"/>
          <p:cNvSpPr/>
          <p:nvPr/>
        </p:nvSpPr>
        <p:spPr>
          <a:xfrm>
            <a:off x="700000" y="5050000"/>
            <a:ext cx="5100000" cy="68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</p:spPr>
        <p:txBody>
          <a:bodyPr anchor="ctr" anchorCtr="1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Store in ChromaDB — query at</a:t>
            </a:r>
          </a:p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generation time, top-4 chunks</a:t>
            </a:r>
          </a:p>
          <a:p>
            <a:pPr algn="ctr"/>
            <a:r>
              <a:rPr lang="en-US" sz="1200" b="1" dirty="0">
                <a:solidFill>
                  <a:srgbClr val="222222"/>
                </a:solidFill>
                <a:latin typeface="Arial"/>
              </a:rPr>
              <a:t>injected into LLM prompt</a:t>
            </a:r>
          </a:p>
        </p:txBody>
      </p:sp>
      <p:sp>
        <p:nvSpPr>
          <p:cNvPr id="300" name="FB300"/>
          <p:cNvSpPr/>
          <p:nvPr/>
        </p:nvSpPr>
        <p:spPr>
          <a:xfrm>
            <a:off x="6300000" y="1450000"/>
            <a:ext cx="5700000" cy="50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Datasheet Processed</a:t>
            </a:r>
          </a:p>
        </p:txBody>
      </p:sp>
      <p:sp>
        <p:nvSpPr>
          <p:cNvPr id="301" name="FB301"/>
          <p:cNvSpPr/>
          <p:nvPr/>
        </p:nvSpPr>
        <p:spPr>
          <a:xfrm>
            <a:off x="6300000" y="2050000"/>
            <a:ext cx="2700000" cy="1100000"/>
          </a:xfrm>
          <a:prstGeom prst="roundRect">
            <a:avLst>
              <a:gd name="adj" fmla="val 15000"/>
            </a:avLst>
          </a:prstGeom>
          <a:solidFill>
            <a:srgbClr val="0077A8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338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Chunks</a:t>
            </a:r>
          </a:p>
        </p:txBody>
      </p:sp>
      <p:sp>
        <p:nvSpPr>
          <p:cNvPr id="302" name="FB302"/>
          <p:cNvSpPr/>
          <p:nvPr/>
        </p:nvSpPr>
        <p:spPr>
          <a:xfrm>
            <a:off x="9100000" y="2050000"/>
            <a:ext cx="2900000" cy="1100000"/>
          </a:xfrm>
          <a:prstGeom prst="roundRect">
            <a:avLst>
              <a:gd name="adj" fmla="val 15000"/>
            </a:avLst>
          </a:prstGeom>
          <a:solidFill>
            <a:srgbClr val="B8860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~800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tokens each</a:t>
            </a:r>
          </a:p>
        </p:txBody>
      </p:sp>
      <p:sp>
        <p:nvSpPr>
          <p:cNvPr id="303" name="FB303"/>
          <p:cNvSpPr/>
          <p:nvPr/>
        </p:nvSpPr>
        <p:spPr>
          <a:xfrm>
            <a:off x="6300000" y="3250000"/>
            <a:ext cx="5700000" cy="48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Query Results (verified retrieval)</a:t>
            </a:r>
          </a:p>
        </p:txBody>
      </p:sp>
      <p:sp>
        <p:nvSpPr>
          <p:cNvPr id="304" name="FB304"/>
          <p:cNvSpPr/>
          <p:nvPr/>
        </p:nvSpPr>
        <p:spPr>
          <a:xfrm>
            <a:off x="6300000" y="3830000"/>
            <a:ext cx="2700000" cy="900000"/>
          </a:xfrm>
          <a:prstGeom prst="roundRect">
            <a:avLst>
              <a:gd name="adj" fmla="val 15000"/>
            </a:avLst>
          </a:prstGeom>
          <a:solidFill>
            <a:srgbClr val="1B5E20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NRST query →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Retrieved reset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circuit specs</a:t>
            </a:r>
          </a:p>
        </p:txBody>
      </p:sp>
      <p:sp>
        <p:nvSpPr>
          <p:cNvPr id="305" name="FB305"/>
          <p:cNvSpPr/>
          <p:nvPr/>
        </p:nvSpPr>
        <p:spPr>
          <a:xfrm>
            <a:off x="9100000" y="3830000"/>
            <a:ext cx="2900000" cy="900000"/>
          </a:xfrm>
          <a:prstGeom prst="roundRect">
            <a:avLst>
              <a:gd name="adj" fmla="val 15000"/>
            </a:avLst>
          </a:prstGeom>
          <a:solidFill>
            <a:srgbClr val="1B5E20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BOOT0 query →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Pin 24 table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boot modes</a:t>
            </a:r>
          </a:p>
        </p:txBody>
      </p:sp>
      <p:sp>
        <p:nvSpPr>
          <p:cNvPr id="306" name="FB306"/>
          <p:cNvSpPr/>
          <p:nvPr/>
        </p:nvSpPr>
        <p:spPr>
          <a:xfrm>
            <a:off x="6300000" y="4900000"/>
            <a:ext cx="5700000" cy="480000"/>
          </a:xfrm>
          <a:prstGeom prst="roundRect">
            <a:avLst>
              <a:gd name="adj" fmla="val 15000"/>
            </a:avLst>
          </a:prstGeom>
          <a:solidFill>
            <a:srgbClr val="55555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Model: all-MiniLM-L6-v2  |  DB: ChromaDB  |  No cloud, no API key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"/>
          <p:cNvSpPr>
            <a:spLocks noGrp="1"/>
          </p:cNvSpPr>
          <p:nvPr>
            <p:ph type="sldNum" sz="quarter" idx="4294967295"/>
          </p:nvPr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>
            <a:normAutofit/>
          </a:bodyPr>
          <a:lstStyle/>
          <a:p>
            <a:fld id="{62A42E78-4FE3-4E16-9FB9-64A349BFE3FC}" type="slidenum">
              <a:rPr lang="en-US" smtClean="0">
                <a:latin typeface="Arial Narrow"/>
              </a:rPr>
              <a:pPr/>
              <a:t>10</a:t>
            </a:fld>
            <a:endParaRPr lang="en-US">
              <a:latin typeface="Arial Narrow"/>
            </a:endParaRPr>
          </a:p>
        </p:txBody>
      </p:sp>
      <p:sp>
        <p:nvSpPr>
          <p:cNvPr id="69" name="HeaderBar"/>
          <p:cNvSpPr>
            <a:spLocks/>
          </p:cNvSpPr>
          <p:nvPr/>
        </p:nvSpPr>
        <p:spPr>
          <a:xfrm>
            <a:off x="184526" y="-1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 anchorCtr="0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Adding STM32 Components to the Pipeline</a:t>
            </a:r>
          </a:p>
        </p:txBody>
      </p:sp>
      <p:sp>
        <p:nvSpPr>
          <p:cNvPr id="102" name="ContentBox"/>
          <p:cNvSpPr/>
          <p:nvPr/>
        </p:nvSpPr>
        <p:spPr>
          <a:xfrm>
            <a:off x="184833" y="1277814"/>
            <a:ext cx="11900000" cy="50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The repo shipped with zero ST components — we built the entire ST integration from scratch</a:t>
            </a:r>
          </a:p>
        </p:txBody>
      </p:sp>
      <p:sp>
        <p:nvSpPr>
          <p:cNvPr id="101" name="LabelBox_KiCa"/>
          <p:cNvSpPr/>
          <p:nvPr/>
        </p:nvSpPr>
        <p:spPr>
          <a:xfrm>
            <a:off x="184833" y="1950000"/>
            <a:ext cx="2500000" cy="923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KiCad Symbol</a:t>
            </a:r>
          </a:p>
        </p:txBody>
      </p:sp>
      <p:sp>
        <p:nvSpPr>
          <p:cNvPr id="2" name="ContentBox"/>
          <p:cNvSpPr/>
          <p:nvPr/>
        </p:nvSpPr>
        <p:spPr>
          <a:xfrm>
            <a:off x="2700000" y="1950000"/>
            <a:ext cx="9200000" cy="923331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Defined 48-pin STM32F411CEU6 in test.kicad_sym — rectangular body, pins distributed on both sides</a:t>
            </a:r>
          </a:p>
        </p:txBody>
      </p:sp>
      <p:sp>
        <p:nvSpPr>
          <p:cNvPr id="3" name="LabelBox_Know"/>
          <p:cNvSpPr/>
          <p:nvPr/>
        </p:nvSpPr>
        <p:spPr>
          <a:xfrm>
            <a:off x="184833" y="3050000"/>
            <a:ext cx="2500000" cy="923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Knowledge Graph</a:t>
            </a:r>
          </a:p>
        </p:txBody>
      </p:sp>
      <p:sp>
        <p:nvSpPr>
          <p:cNvPr id="4" name="ContentBox"/>
          <p:cNvSpPr/>
          <p:nvPr/>
        </p:nvSpPr>
        <p:spPr>
          <a:xfrm>
            <a:off x="2700000" y="3050000"/>
            <a:ext cx="9200000" cy="923331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Added pin roles to kg.json: VBAT=supply_vdd, NRST=logic_in, BOOT0=logic_in, VDD=supply_vdd, VSS=supply_gnd</a:t>
            </a:r>
          </a:p>
        </p:txBody>
      </p:sp>
      <p:sp>
        <p:nvSpPr>
          <p:cNvPr id="5" name="LabelBox_Cons"/>
          <p:cNvSpPr/>
          <p:nvPr/>
        </p:nvSpPr>
        <p:spPr>
          <a:xfrm>
            <a:off x="184833" y="4150000"/>
            <a:ext cx="2500000" cy="923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Constraints</a:t>
            </a:r>
          </a:p>
        </p:txBody>
      </p:sp>
      <p:sp>
        <p:nvSpPr>
          <p:cNvPr id="7" name="ContentBox"/>
          <p:cNvSpPr/>
          <p:nvPr/>
        </p:nvSpPr>
        <p:spPr>
          <a:xfrm>
            <a:off x="2700000" y="4150000"/>
            <a:ext cx="9200000" cy="923331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Topological rules: 100nF cap on every VDD pin, 100nF on NRST to GND, 10k pull-down on BOOT0</a:t>
            </a:r>
          </a:p>
        </p:txBody>
      </p:sp>
      <p:sp>
        <p:nvSpPr>
          <p:cNvPr id="8" name="LabelBox_Benc"/>
          <p:cNvSpPr/>
          <p:nvPr/>
        </p:nvSpPr>
        <p:spPr>
          <a:xfrm>
            <a:off x="184833" y="5250000"/>
            <a:ext cx="2500000" cy="923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Benchmark Task</a:t>
            </a:r>
          </a:p>
        </p:txBody>
      </p:sp>
      <p:sp>
        <p:nvSpPr>
          <p:cNvPr id="9" name="ContentBox"/>
          <p:cNvSpPr/>
          <p:nvPr/>
        </p:nvSpPr>
        <p:spPr>
          <a:xfrm>
            <a:off x="2700000" y="5250000"/>
            <a:ext cx="9200000" cy="923331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Wrote new task: STM32F411CEU6 minimum viable circuit — power, reset, boot pins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Num">
            <a:extLst>
              <a:ext uri="{FF2B5EF4-FFF2-40B4-BE49-F238E27FC236}">
                <a16:creationId xmlns:a16="http://schemas.microsoft.com/office/drawing/2014/main" id="{0C599154-D4F8-C3B6-5456-48C6C606BB59}"/>
              </a:ext>
            </a:extLst>
          </p:cNvPr>
          <p:cNvSpPr txBox="1">
            <a:spLocks/>
          </p:cNvSpPr>
          <p:nvPr/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100" b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2A42E78-4FE3-4E16-9FB9-64A349BFE3FC}" type="slidenum">
              <a:rPr lang="en-IN" smtClean="0">
                <a:latin typeface="Arial Narrow"/>
              </a:rPr>
              <a:pPr/>
              <a:t>11</a:t>
            </a:fld>
            <a:endParaRPr lang="en-IN">
              <a:latin typeface="Arial Narrow"/>
            </a:endParaRPr>
          </a:p>
        </p:txBody>
      </p:sp>
      <p:sp>
        <p:nvSpPr>
          <p:cNvPr id="5" name="HeaderBar">
            <a:extLst>
              <a:ext uri="{FF2B5EF4-FFF2-40B4-BE49-F238E27FC236}">
                <a16:creationId xmlns:a16="http://schemas.microsoft.com/office/drawing/2014/main" id="{5BDB67CC-44CA-797D-7D12-939937ED0341}"/>
              </a:ext>
            </a:extLst>
          </p:cNvPr>
          <p:cNvSpPr>
            <a:spLocks/>
          </p:cNvSpPr>
          <p:nvPr/>
        </p:nvSpPr>
        <p:spPr>
          <a:xfrm>
            <a:off x="184526" y="-1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 anchorCtr="0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The Natural Language Prompt Given for this Circuit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4599FCC-53C2-438A-A02E-9A3178A41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431" y="1595573"/>
            <a:ext cx="7097137" cy="366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63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"/>
          <p:cNvSpPr>
            <a:spLocks noGrp="1"/>
          </p:cNvSpPr>
          <p:nvPr>
            <p:ph type="sldNum" sz="quarter" idx="4294967295"/>
          </p:nvPr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>
            <a:normAutofit/>
          </a:bodyPr>
          <a:lstStyle/>
          <a:p>
            <a:fld id="{62A42E78-4FE3-4E16-9FB9-64A349BFE3FC}" type="slidenum">
              <a:rPr lang="en-US" smtClean="0">
                <a:latin typeface="Arial Narrow"/>
              </a:rPr>
              <a:pPr/>
              <a:t>12</a:t>
            </a:fld>
            <a:endParaRPr lang="en-US">
              <a:latin typeface="Arial Narrow"/>
            </a:endParaRPr>
          </a:p>
        </p:txBody>
      </p:sp>
      <p:sp>
        <p:nvSpPr>
          <p:cNvPr id="69" name="HeaderBar"/>
          <p:cNvSpPr>
            <a:spLocks/>
          </p:cNvSpPr>
          <p:nvPr/>
        </p:nvSpPr>
        <p:spPr>
          <a:xfrm>
            <a:off x="184526" y="-1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 anchorCtr="0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Generated SKiDL Code</a:t>
            </a:r>
          </a:p>
        </p:txBody>
      </p:sp>
      <p:sp>
        <p:nvSpPr>
          <p:cNvPr id="102" name="ContentBox"/>
          <p:cNvSpPr/>
          <p:nvPr/>
        </p:nvSpPr>
        <p:spPr>
          <a:xfrm>
            <a:off x="184833" y="1277814"/>
            <a:ext cx="5800000" cy="50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Actual LLM-generated SKiDL code — validated by ERC</a:t>
            </a:r>
          </a:p>
        </p:txBody>
      </p:sp>
      <p:sp>
        <p:nvSpPr>
          <p:cNvPr id="101" name="LabelBox_Inpu"/>
          <p:cNvSpPr/>
          <p:nvPr/>
        </p:nvSpPr>
        <p:spPr>
          <a:xfrm>
            <a:off x="184833" y="19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Input</a:t>
            </a:r>
          </a:p>
        </p:txBody>
      </p:sp>
      <p:sp>
        <p:nvSpPr>
          <p:cNvPr id="2" name="ContentBox"/>
          <p:cNvSpPr/>
          <p:nvPr/>
        </p:nvSpPr>
        <p:spPr>
          <a:xfrm>
            <a:off x="2147460" y="1950000"/>
            <a:ext cx="37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Natural language: STM32F411CEU6 minimum viable circuit</a:t>
            </a:r>
          </a:p>
        </p:txBody>
      </p:sp>
      <p:sp>
        <p:nvSpPr>
          <p:cNvPr id="3" name="LabelBox_RAG"/>
          <p:cNvSpPr/>
          <p:nvPr/>
        </p:nvSpPr>
        <p:spPr>
          <a:xfrm>
            <a:off x="184833" y="28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RAG</a:t>
            </a:r>
          </a:p>
        </p:txBody>
      </p:sp>
      <p:sp>
        <p:nvSpPr>
          <p:cNvPr id="4" name="ContentBox"/>
          <p:cNvSpPr/>
          <p:nvPr/>
        </p:nvSpPr>
        <p:spPr>
          <a:xfrm>
            <a:off x="2147460" y="2850000"/>
            <a:ext cx="37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Retrieved: NRST 100nF, BOOT0 pull-down, VDD decoupling rules</a:t>
            </a:r>
          </a:p>
        </p:txBody>
      </p:sp>
      <p:sp>
        <p:nvSpPr>
          <p:cNvPr id="5" name="LabelBox_Outp"/>
          <p:cNvSpPr/>
          <p:nvPr/>
        </p:nvSpPr>
        <p:spPr>
          <a:xfrm>
            <a:off x="184833" y="37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Output</a:t>
            </a:r>
          </a:p>
        </p:txBody>
      </p:sp>
      <p:sp>
        <p:nvSpPr>
          <p:cNvPr id="7" name="ContentBox"/>
          <p:cNvSpPr/>
          <p:nvPr/>
        </p:nvSpPr>
        <p:spPr>
          <a:xfrm>
            <a:off x="2147460" y="3750000"/>
            <a:ext cx="37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Part(), Net(), += connections — correct SKiDL syntax</a:t>
            </a:r>
          </a:p>
        </p:txBody>
      </p:sp>
      <p:sp>
        <p:nvSpPr>
          <p:cNvPr id="8" name="LabelBox_ERC"/>
          <p:cNvSpPr/>
          <p:nvPr/>
        </p:nvSpPr>
        <p:spPr>
          <a:xfrm>
            <a:off x="184833" y="46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ERC</a:t>
            </a:r>
          </a:p>
        </p:txBody>
      </p:sp>
      <p:sp>
        <p:nvSpPr>
          <p:cNvPr id="9" name="ContentBox"/>
          <p:cNvSpPr/>
          <p:nvPr/>
        </p:nvSpPr>
        <p:spPr>
          <a:xfrm>
            <a:off x="2147460" y="4650000"/>
            <a:ext cx="37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0 errors, 45 warnings (all expected — unconnected GPIO pins)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1719E3-C35A-AF1F-12C4-AF708155C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5" y="1277814"/>
            <a:ext cx="4148908" cy="53899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"/>
          <p:cNvSpPr>
            <a:spLocks noGrp="1"/>
          </p:cNvSpPr>
          <p:nvPr>
            <p:ph type="sldNum" sz="quarter" idx="4294967295"/>
          </p:nvPr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>
            <a:normAutofit/>
          </a:bodyPr>
          <a:lstStyle/>
          <a:p>
            <a:fld id="{62A42E78-4FE3-4E16-9FB9-64A349BFE3FC}" type="slidenum">
              <a:rPr lang="en-US" smtClean="0">
                <a:latin typeface="Arial Narrow"/>
              </a:rPr>
              <a:pPr/>
              <a:t>13</a:t>
            </a:fld>
            <a:endParaRPr lang="en-US">
              <a:latin typeface="Arial Narrow"/>
            </a:endParaRPr>
          </a:p>
        </p:txBody>
      </p:sp>
      <p:sp>
        <p:nvSpPr>
          <p:cNvPr id="69" name="HeaderBar"/>
          <p:cNvSpPr>
            <a:spLocks/>
          </p:cNvSpPr>
          <p:nvPr/>
        </p:nvSpPr>
        <p:spPr>
          <a:xfrm>
            <a:off x="184526" y="-1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 anchorCtr="0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Key Result — STM32 Circuit Generated</a:t>
            </a:r>
          </a:p>
        </p:txBody>
      </p:sp>
      <p:sp>
        <p:nvSpPr>
          <p:cNvPr id="102" name="ContentBox"/>
          <p:cNvSpPr/>
          <p:nvPr/>
        </p:nvSpPr>
        <p:spPr>
          <a:xfrm>
            <a:off x="184833" y="1277814"/>
            <a:ext cx="5500000" cy="50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 fontScale="92500" lnSpcReduction="20000"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First ST-only circuit — generated, validated, zero ERC errors</a:t>
            </a:r>
          </a:p>
        </p:txBody>
      </p:sp>
      <p:sp>
        <p:nvSpPr>
          <p:cNvPr id="101" name="LabelBox_MCU"/>
          <p:cNvSpPr/>
          <p:nvPr/>
        </p:nvSpPr>
        <p:spPr>
          <a:xfrm>
            <a:off x="184833" y="19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MCU</a:t>
            </a:r>
          </a:p>
        </p:txBody>
      </p:sp>
      <p:sp>
        <p:nvSpPr>
          <p:cNvPr id="2" name="ContentBox"/>
          <p:cNvSpPr/>
          <p:nvPr/>
        </p:nvSpPr>
        <p:spPr>
          <a:xfrm>
            <a:off x="2147460" y="1950000"/>
            <a:ext cx="33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STM32F411CEU6 (48-pin UFQFPN)</a:t>
            </a:r>
          </a:p>
        </p:txBody>
      </p:sp>
      <p:sp>
        <p:nvSpPr>
          <p:cNvPr id="3" name="LabelBox_C1-C"/>
          <p:cNvSpPr/>
          <p:nvPr/>
        </p:nvSpPr>
        <p:spPr>
          <a:xfrm>
            <a:off x="184833" y="28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C1-C5</a:t>
            </a:r>
          </a:p>
        </p:txBody>
      </p:sp>
      <p:sp>
        <p:nvSpPr>
          <p:cNvPr id="4" name="ContentBox"/>
          <p:cNvSpPr/>
          <p:nvPr/>
        </p:nvSpPr>
        <p:spPr>
          <a:xfrm>
            <a:off x="2147460" y="2850000"/>
            <a:ext cx="33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100nF decoupling on VBAT, VDDA, VDD x2, NRST</a:t>
            </a:r>
          </a:p>
        </p:txBody>
      </p:sp>
      <p:sp>
        <p:nvSpPr>
          <p:cNvPr id="5" name="LabelBox_R1"/>
          <p:cNvSpPr/>
          <p:nvPr/>
        </p:nvSpPr>
        <p:spPr>
          <a:xfrm>
            <a:off x="184833" y="37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R1</a:t>
            </a:r>
          </a:p>
        </p:txBody>
      </p:sp>
      <p:sp>
        <p:nvSpPr>
          <p:cNvPr id="7" name="ContentBox"/>
          <p:cNvSpPr/>
          <p:nvPr/>
        </p:nvSpPr>
        <p:spPr>
          <a:xfrm>
            <a:off x="2147460" y="3750000"/>
            <a:ext cx="33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10k pull-down on BOOT0 (flash boot mode)</a:t>
            </a:r>
          </a:p>
        </p:txBody>
      </p:sp>
      <p:sp>
        <p:nvSpPr>
          <p:cNvPr id="8" name="LabelBox_ERC"/>
          <p:cNvSpPr/>
          <p:nvPr/>
        </p:nvSpPr>
        <p:spPr>
          <a:xfrm>
            <a:off x="184833" y="46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ERC</a:t>
            </a:r>
          </a:p>
        </p:txBody>
      </p:sp>
      <p:sp>
        <p:nvSpPr>
          <p:cNvPr id="9" name="ContentBox"/>
          <p:cNvSpPr/>
          <p:nvPr/>
        </p:nvSpPr>
        <p:spPr>
          <a:xfrm>
            <a:off x="2147460" y="4650000"/>
            <a:ext cx="33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0 errors  |  45 warnings (expected)</a:t>
            </a:r>
          </a:p>
        </p:txBody>
      </p:sp>
      <p:sp>
        <p:nvSpPr>
          <p:cNvPr id="10" name="LabelBox_File"/>
          <p:cNvSpPr/>
          <p:nvPr/>
        </p:nvSpPr>
        <p:spPr>
          <a:xfrm>
            <a:off x="184833" y="55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Files</a:t>
            </a:r>
          </a:p>
        </p:txBody>
      </p:sp>
      <p:sp>
        <p:nvSpPr>
          <p:cNvPr id="11" name="ContentBox"/>
          <p:cNvSpPr/>
          <p:nvPr/>
        </p:nvSpPr>
        <p:spPr>
          <a:xfrm>
            <a:off x="2147460" y="5550000"/>
            <a:ext cx="33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stm32f411_mvc.net (7.2KB)  +  skidl_REPL.svg (50KB)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B39A6B-6402-EEC5-9943-F1B2640C8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162" y="1562945"/>
            <a:ext cx="4869534" cy="45812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Num">
            <a:extLst>
              <a:ext uri="{FF2B5EF4-FFF2-40B4-BE49-F238E27FC236}">
                <a16:creationId xmlns:a16="http://schemas.microsoft.com/office/drawing/2014/main" id="{0639B904-B1EF-6854-9DFC-2592C398DC20}"/>
              </a:ext>
            </a:extLst>
          </p:cNvPr>
          <p:cNvSpPr txBox="1">
            <a:spLocks/>
          </p:cNvSpPr>
          <p:nvPr/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100" b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2A42E78-4FE3-4E16-9FB9-64A349BFE3FC}" type="slidenum">
              <a:rPr lang="en-IN" smtClean="0">
                <a:latin typeface="Arial Narrow"/>
              </a:rPr>
              <a:pPr/>
              <a:t>14</a:t>
            </a:fld>
            <a:endParaRPr lang="en-IN">
              <a:latin typeface="Arial Narrow"/>
            </a:endParaRPr>
          </a:p>
        </p:txBody>
      </p:sp>
      <p:sp>
        <p:nvSpPr>
          <p:cNvPr id="3" name="HeaderBar">
            <a:extLst>
              <a:ext uri="{FF2B5EF4-FFF2-40B4-BE49-F238E27FC236}">
                <a16:creationId xmlns:a16="http://schemas.microsoft.com/office/drawing/2014/main" id="{9C7666BA-930A-B498-68C9-CB451F6A04B9}"/>
              </a:ext>
            </a:extLst>
          </p:cNvPr>
          <p:cNvSpPr>
            <a:spLocks/>
          </p:cNvSpPr>
          <p:nvPr/>
        </p:nvSpPr>
        <p:spPr>
          <a:xfrm>
            <a:off x="184526" y="-1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 anchorCtr="0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What it looks in KiCAD.v9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E83055-152F-DEAA-3EE5-28B920F85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543" y="1368423"/>
            <a:ext cx="8545438" cy="480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3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"/>
          <p:cNvSpPr>
            <a:spLocks noGrp="1"/>
          </p:cNvSpPr>
          <p:nvPr>
            <p:ph type="sldNum" sz="quarter" idx="4294967295"/>
          </p:nvPr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>
            <a:normAutofit/>
          </a:bodyPr>
          <a:lstStyle/>
          <a:p>
            <a:fld id="{62A42E78-4FE3-4E16-9FB9-64A349BFE3FC}" type="slidenum">
              <a:rPr lang="en-US" smtClean="0">
                <a:latin typeface="Arial Narrow"/>
              </a:rPr>
              <a:pPr/>
              <a:t>15</a:t>
            </a:fld>
            <a:endParaRPr lang="en-US">
              <a:latin typeface="Arial Narrow"/>
            </a:endParaRPr>
          </a:p>
        </p:txBody>
      </p:sp>
      <p:sp>
        <p:nvSpPr>
          <p:cNvPr id="69" name="HeaderBar"/>
          <p:cNvSpPr>
            <a:spLocks/>
          </p:cNvSpPr>
          <p:nvPr/>
        </p:nvSpPr>
        <p:spPr>
          <a:xfrm>
            <a:off x="184526" y="-1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 anchorCtr="0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ERC Validation and Output Files</a:t>
            </a:r>
          </a:p>
        </p:txBody>
      </p:sp>
      <p:sp>
        <p:nvSpPr>
          <p:cNvPr id="102" name="ContentBox"/>
          <p:cNvSpPr/>
          <p:nvPr/>
        </p:nvSpPr>
        <p:spPr>
          <a:xfrm>
            <a:off x="184833" y="1277814"/>
            <a:ext cx="5800000" cy="50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 fontScale="92500"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ERC validation — the pipeline self-checks electrical correctness</a:t>
            </a:r>
          </a:p>
        </p:txBody>
      </p:sp>
      <p:sp>
        <p:nvSpPr>
          <p:cNvPr id="101" name="LabelBox_0 Er"/>
          <p:cNvSpPr/>
          <p:nvPr/>
        </p:nvSpPr>
        <p:spPr>
          <a:xfrm>
            <a:off x="184833" y="19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0 Errors</a:t>
            </a:r>
          </a:p>
        </p:txBody>
      </p:sp>
      <p:sp>
        <p:nvSpPr>
          <p:cNvPr id="2" name="ContentBox"/>
          <p:cNvSpPr/>
          <p:nvPr/>
        </p:nvSpPr>
        <p:spPr>
          <a:xfrm>
            <a:off x="2147460" y="1950000"/>
            <a:ext cx="37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Zero electrical rule violations in the generated netlist</a:t>
            </a:r>
          </a:p>
        </p:txBody>
      </p:sp>
      <p:sp>
        <p:nvSpPr>
          <p:cNvPr id="3" name="LabelBox_45 W"/>
          <p:cNvSpPr/>
          <p:nvPr/>
        </p:nvSpPr>
        <p:spPr>
          <a:xfrm>
            <a:off x="184833" y="28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45 Warnings</a:t>
            </a:r>
          </a:p>
        </p:txBody>
      </p:sp>
      <p:sp>
        <p:nvSpPr>
          <p:cNvPr id="4" name="ContentBox"/>
          <p:cNvSpPr/>
          <p:nvPr/>
        </p:nvSpPr>
        <p:spPr>
          <a:xfrm>
            <a:off x="2147460" y="2850000"/>
            <a:ext cx="37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 lnSpcReduction="10000"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All expected — unconnected GPIO pins (intentional in MVC) + missing power flags</a:t>
            </a:r>
          </a:p>
        </p:txBody>
      </p:sp>
      <p:sp>
        <p:nvSpPr>
          <p:cNvPr id="5" name="LabelBox_Netl"/>
          <p:cNvSpPr/>
          <p:nvPr/>
        </p:nvSpPr>
        <p:spPr>
          <a:xfrm>
            <a:off x="184833" y="37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Netlist</a:t>
            </a:r>
          </a:p>
        </p:txBody>
      </p:sp>
      <p:sp>
        <p:nvSpPr>
          <p:cNvPr id="7" name="ContentBox"/>
          <p:cNvSpPr/>
          <p:nvPr/>
        </p:nvSpPr>
        <p:spPr>
          <a:xfrm>
            <a:off x="2147460" y="3750000"/>
            <a:ext cx="37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stm32f411_mvc.net — 7.2KB KiCad-compatible netlist file</a:t>
            </a:r>
          </a:p>
        </p:txBody>
      </p:sp>
      <p:sp>
        <p:nvSpPr>
          <p:cNvPr id="9" name="LabelBox_SVG"/>
          <p:cNvSpPr/>
          <p:nvPr/>
        </p:nvSpPr>
        <p:spPr>
          <a:xfrm>
            <a:off x="184833" y="46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SVG</a:t>
            </a:r>
          </a:p>
        </p:txBody>
      </p:sp>
      <p:sp>
        <p:nvSpPr>
          <p:cNvPr id="10" name="ContentBox"/>
          <p:cNvSpPr/>
          <p:nvPr/>
        </p:nvSpPr>
        <p:spPr>
          <a:xfrm>
            <a:off x="2147460" y="4650000"/>
            <a:ext cx="37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 lnSpcReduction="10000"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skidl_REPL.svg — 50KB schematic visualization with rectangular IC body</a:t>
            </a:r>
          </a:p>
        </p:txBody>
      </p:sp>
      <p:sp>
        <p:nvSpPr>
          <p:cNvPr id="11" name="LabelBox_Veri"/>
          <p:cNvSpPr/>
          <p:nvPr/>
        </p:nvSpPr>
        <p:spPr>
          <a:xfrm>
            <a:off x="184833" y="55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Verified on</a:t>
            </a:r>
          </a:p>
        </p:txBody>
      </p:sp>
      <p:sp>
        <p:nvSpPr>
          <p:cNvPr id="12" name="ContentBox"/>
          <p:cNvSpPr/>
          <p:nvPr/>
        </p:nvSpPr>
        <p:spPr>
          <a:xfrm>
            <a:off x="2147460" y="5550000"/>
            <a:ext cx="37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Lightning AI — Ubuntu 24.04, KiCad 7, Python 3.12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764627-D131-C2A3-D678-CEB377F73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262" y="2150790"/>
            <a:ext cx="5676953" cy="21484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"/>
          <p:cNvSpPr>
            <a:spLocks noGrp="1"/>
          </p:cNvSpPr>
          <p:nvPr>
            <p:ph type="sldNum" sz="quarter" idx="4294967295"/>
          </p:nvPr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>
            <a:normAutofit/>
          </a:bodyPr>
          <a:lstStyle/>
          <a:p>
            <a:fld id="{62A42E78-4FE3-4E16-9FB9-64A349BFE3FC}" type="slidenum">
              <a:rPr lang="en-US" smtClean="0">
                <a:latin typeface="Arial Narrow"/>
              </a:rPr>
              <a:pPr/>
              <a:t>16</a:t>
            </a:fld>
            <a:endParaRPr lang="en-US">
              <a:latin typeface="Arial Narrow"/>
            </a:endParaRPr>
          </a:p>
        </p:txBody>
      </p:sp>
      <p:sp>
        <p:nvSpPr>
          <p:cNvPr id="69" name="Hdr"/>
          <p:cNvSpPr>
            <a:spLocks/>
          </p:cNvSpPr>
          <p:nvPr/>
        </p:nvSpPr>
        <p:spPr>
          <a:xfrm>
            <a:off x="184526" y="-1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Approach Comparison</a:t>
            </a:r>
          </a:p>
        </p:txBody>
      </p:sp>
      <p:sp>
        <p:nvSpPr>
          <p:cNvPr id="100" name="FB100"/>
          <p:cNvSpPr/>
          <p:nvPr/>
        </p:nvSpPr>
        <p:spPr>
          <a:xfrm>
            <a:off x="150000" y="1380000"/>
            <a:ext cx="2400000" cy="60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Method</a:t>
            </a:r>
          </a:p>
        </p:txBody>
      </p:sp>
      <p:sp>
        <p:nvSpPr>
          <p:cNvPr id="101" name="FB101"/>
          <p:cNvSpPr/>
          <p:nvPr/>
        </p:nvSpPr>
        <p:spPr>
          <a:xfrm>
            <a:off x="2570000" y="1380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KiCad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Output</a:t>
            </a:r>
          </a:p>
        </p:txBody>
      </p:sp>
      <p:sp>
        <p:nvSpPr>
          <p:cNvPr id="102" name="FB102"/>
          <p:cNvSpPr/>
          <p:nvPr/>
        </p:nvSpPr>
        <p:spPr>
          <a:xfrm>
            <a:off x="4090000" y="1380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OrCAD /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Allegro</a:t>
            </a:r>
          </a:p>
        </p:txBody>
      </p:sp>
      <p:sp>
        <p:nvSpPr>
          <p:cNvPr id="103" name="FB103"/>
          <p:cNvSpPr/>
          <p:nvPr/>
        </p:nvSpPr>
        <p:spPr>
          <a:xfrm>
            <a:off x="5610000" y="1380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ST Component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Fit</a:t>
            </a:r>
          </a:p>
        </p:txBody>
      </p:sp>
      <p:sp>
        <p:nvSpPr>
          <p:cNvPr id="104" name="FB104"/>
          <p:cNvSpPr/>
          <p:nvPr/>
        </p:nvSpPr>
        <p:spPr>
          <a:xfrm>
            <a:off x="7130000" y="1380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sp>
        <p:nvSpPr>
          <p:cNvPr id="105" name="FB105"/>
          <p:cNvSpPr/>
          <p:nvPr/>
        </p:nvSpPr>
        <p:spPr>
          <a:xfrm>
            <a:off x="8650000" y="1380000"/>
            <a:ext cx="1800000" cy="600000"/>
          </a:xfrm>
          <a:prstGeom prst="roundRect">
            <a:avLst>
              <a:gd name="adj" fmla="val 15000"/>
            </a:avLst>
          </a:prstGeom>
          <a:solidFill>
            <a:srgbClr val="03234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200" name="FB200"/>
          <p:cNvSpPr/>
          <p:nvPr/>
        </p:nvSpPr>
        <p:spPr>
          <a:xfrm>
            <a:off x="150000" y="1995000"/>
            <a:ext cx="2400000" cy="600000"/>
          </a:xfrm>
          <a:prstGeom prst="roundRect">
            <a:avLst>
              <a:gd name="adj" fmla="val 15000"/>
            </a:avLst>
          </a:prstGeom>
          <a:solidFill>
            <a:srgbClr val="1B5E20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PCBSchemaGen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+ SKiDL</a:t>
            </a:r>
          </a:p>
        </p:txBody>
      </p:sp>
      <p:sp>
        <p:nvSpPr>
          <p:cNvPr id="201" name="FB201"/>
          <p:cNvSpPr/>
          <p:nvPr/>
        </p:nvSpPr>
        <p:spPr>
          <a:xfrm>
            <a:off x="2570000" y="1995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Direct</a:t>
            </a:r>
          </a:p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Netlist</a:t>
            </a:r>
          </a:p>
        </p:txBody>
      </p:sp>
      <p:sp>
        <p:nvSpPr>
          <p:cNvPr id="202" name="FB202"/>
          <p:cNvSpPr/>
          <p:nvPr/>
        </p:nvSpPr>
        <p:spPr>
          <a:xfrm>
            <a:off x="4090000" y="1995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Via EDIF</a:t>
            </a:r>
          </a:p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(manual)</a:t>
            </a:r>
          </a:p>
        </p:txBody>
      </p:sp>
      <p:sp>
        <p:nvSpPr>
          <p:cNvPr id="203" name="FB203"/>
          <p:cNvSpPr/>
          <p:nvPr/>
        </p:nvSpPr>
        <p:spPr>
          <a:xfrm>
            <a:off x="5610000" y="1995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Strong</a:t>
            </a:r>
          </a:p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with RAG</a:t>
            </a:r>
          </a:p>
        </p:txBody>
      </p:sp>
      <p:sp>
        <p:nvSpPr>
          <p:cNvPr id="204" name="FB204"/>
          <p:cNvSpPr/>
          <p:nvPr/>
        </p:nvSpPr>
        <p:spPr>
          <a:xfrm>
            <a:off x="7130000" y="1995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Low</a:t>
            </a:r>
          </a:p>
          <a:p>
            <a:pPr algn="ctr"/>
            <a:r>
              <a:rPr lang="en-US" sz="1200" b="1" dirty="0">
                <a:solidFill>
                  <a:srgbClr val="1B5E20"/>
                </a:solidFill>
                <a:latin typeface="Arial"/>
              </a:rPr>
              <a:t>(local)</a:t>
            </a:r>
          </a:p>
        </p:txBody>
      </p:sp>
      <p:sp>
        <p:nvSpPr>
          <p:cNvPr id="205" name="FB205"/>
          <p:cNvSpPr/>
          <p:nvPr/>
        </p:nvSpPr>
        <p:spPr>
          <a:xfrm>
            <a:off x="8650000" y="1995000"/>
            <a:ext cx="1800000" cy="600000"/>
          </a:xfrm>
          <a:prstGeom prst="roundRect">
            <a:avLst>
              <a:gd name="adj" fmla="val 15000"/>
            </a:avLst>
          </a:prstGeom>
          <a:solidFill>
            <a:srgbClr val="1B5E20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USED ✓</a:t>
            </a:r>
          </a:p>
        </p:txBody>
      </p:sp>
      <p:sp>
        <p:nvSpPr>
          <p:cNvPr id="210" name="FB210"/>
          <p:cNvSpPr/>
          <p:nvPr/>
        </p:nvSpPr>
        <p:spPr>
          <a:xfrm>
            <a:off x="150000" y="2610000"/>
            <a:ext cx="2400000" cy="600000"/>
          </a:xfrm>
          <a:prstGeom prst="roundRect">
            <a:avLst>
              <a:gd name="adj" fmla="val 15000"/>
            </a:avLst>
          </a:prstGeom>
          <a:solidFill>
            <a:srgbClr val="0077A8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KiCad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MCP Server</a:t>
            </a:r>
          </a:p>
        </p:txBody>
      </p:sp>
      <p:sp>
        <p:nvSpPr>
          <p:cNvPr id="211" name="FB211"/>
          <p:cNvSpPr/>
          <p:nvPr/>
        </p:nvSpPr>
        <p:spPr>
          <a:xfrm>
            <a:off x="2570000" y="2610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EDF4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0077A8"/>
                </a:solidFill>
                <a:latin typeface="Arial"/>
              </a:rPr>
              <a:t>Direct</a:t>
            </a:r>
          </a:p>
          <a:p>
            <a:pPr algn="ctr"/>
            <a:r>
              <a:rPr lang="en-US" sz="1200" b="1" dirty="0">
                <a:solidFill>
                  <a:srgbClr val="0077A8"/>
                </a:solidFill>
                <a:latin typeface="Arial"/>
              </a:rPr>
              <a:t>manipulation</a:t>
            </a:r>
          </a:p>
        </p:txBody>
      </p:sp>
      <p:sp>
        <p:nvSpPr>
          <p:cNvPr id="212" name="FB212"/>
          <p:cNvSpPr/>
          <p:nvPr/>
        </p:nvSpPr>
        <p:spPr>
          <a:xfrm>
            <a:off x="4090000" y="2610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EDF4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0077A8"/>
                </a:solidFill>
                <a:latin typeface="Arial"/>
              </a:rPr>
              <a:t>None</a:t>
            </a:r>
          </a:p>
        </p:txBody>
      </p:sp>
      <p:sp>
        <p:nvSpPr>
          <p:cNvPr id="213" name="FB213"/>
          <p:cNvSpPr/>
          <p:nvPr/>
        </p:nvSpPr>
        <p:spPr>
          <a:xfrm>
            <a:off x="5610000" y="2610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EDF4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0077A8"/>
                </a:solidFill>
                <a:latin typeface="Arial"/>
              </a:rPr>
              <a:t>Promising</a:t>
            </a:r>
          </a:p>
        </p:txBody>
      </p:sp>
      <p:sp>
        <p:nvSpPr>
          <p:cNvPr id="214" name="FB214"/>
          <p:cNvSpPr/>
          <p:nvPr/>
        </p:nvSpPr>
        <p:spPr>
          <a:xfrm>
            <a:off x="7130000" y="2610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EDF4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0077A8"/>
                </a:solidFill>
                <a:latin typeface="Arial"/>
              </a:rPr>
              <a:t>None</a:t>
            </a:r>
          </a:p>
        </p:txBody>
      </p:sp>
      <p:sp>
        <p:nvSpPr>
          <p:cNvPr id="215" name="FB215"/>
          <p:cNvSpPr/>
          <p:nvPr/>
        </p:nvSpPr>
        <p:spPr>
          <a:xfrm>
            <a:off x="8650000" y="2610000"/>
            <a:ext cx="1800000" cy="600000"/>
          </a:xfrm>
          <a:prstGeom prst="roundRect">
            <a:avLst>
              <a:gd name="adj" fmla="val 15000"/>
            </a:avLst>
          </a:prstGeom>
          <a:solidFill>
            <a:srgbClr val="EDF4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0077A8"/>
                </a:solidFill>
                <a:latin typeface="Arial"/>
              </a:rPr>
              <a:t>Phase 1</a:t>
            </a:r>
          </a:p>
          <a:p>
            <a:pPr algn="ctr"/>
            <a:r>
              <a:rPr lang="en-US" sz="1200" b="1" dirty="0">
                <a:solidFill>
                  <a:srgbClr val="0077A8"/>
                </a:solidFill>
                <a:latin typeface="Arial"/>
              </a:rPr>
              <a:t>target</a:t>
            </a:r>
          </a:p>
        </p:txBody>
      </p:sp>
      <p:sp>
        <p:nvSpPr>
          <p:cNvPr id="220" name="FB220"/>
          <p:cNvSpPr/>
          <p:nvPr/>
        </p:nvSpPr>
        <p:spPr>
          <a:xfrm>
            <a:off x="150000" y="3225000"/>
            <a:ext cx="2400000" cy="600000"/>
          </a:xfrm>
          <a:prstGeom prst="roundRect">
            <a:avLst>
              <a:gd name="adj" fmla="val 15000"/>
            </a:avLst>
          </a:prstGeom>
          <a:solidFill>
            <a:srgbClr val="0077A8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kicad-sch-api</a:t>
            </a:r>
          </a:p>
        </p:txBody>
      </p:sp>
      <p:sp>
        <p:nvSpPr>
          <p:cNvPr id="221" name="FB221"/>
          <p:cNvSpPr/>
          <p:nvPr/>
        </p:nvSpPr>
        <p:spPr>
          <a:xfrm>
            <a:off x="2570000" y="3225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EDF4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0077A8"/>
                </a:solidFill>
                <a:latin typeface="Arial"/>
              </a:rPr>
              <a:t>Native</a:t>
            </a:r>
          </a:p>
          <a:p>
            <a:pPr algn="ctr"/>
            <a:r>
              <a:rPr lang="en-US" sz="1200" b="1" dirty="0">
                <a:solidFill>
                  <a:srgbClr val="0077A8"/>
                </a:solidFill>
                <a:latin typeface="Arial"/>
              </a:rPr>
              <a:t>.kicad_sch</a:t>
            </a:r>
          </a:p>
        </p:txBody>
      </p:sp>
      <p:sp>
        <p:nvSpPr>
          <p:cNvPr id="222" name="FB222"/>
          <p:cNvSpPr/>
          <p:nvPr/>
        </p:nvSpPr>
        <p:spPr>
          <a:xfrm>
            <a:off x="4090000" y="3225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EDF4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0077A8"/>
                </a:solidFill>
                <a:latin typeface="Arial"/>
              </a:rPr>
              <a:t>None</a:t>
            </a:r>
          </a:p>
        </p:txBody>
      </p:sp>
      <p:sp>
        <p:nvSpPr>
          <p:cNvPr id="223" name="FB223"/>
          <p:cNvSpPr/>
          <p:nvPr/>
        </p:nvSpPr>
        <p:spPr>
          <a:xfrm>
            <a:off x="5610000" y="3225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EDF4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0077A8"/>
                </a:solidFill>
                <a:latin typeface="Arial"/>
              </a:rPr>
              <a:t>Good</a:t>
            </a:r>
          </a:p>
        </p:txBody>
      </p:sp>
      <p:sp>
        <p:nvSpPr>
          <p:cNvPr id="224" name="FB224"/>
          <p:cNvSpPr/>
          <p:nvPr/>
        </p:nvSpPr>
        <p:spPr>
          <a:xfrm>
            <a:off x="7130000" y="3225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EDF4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0077A8"/>
                </a:solidFill>
                <a:latin typeface="Arial"/>
              </a:rPr>
              <a:t>None</a:t>
            </a:r>
          </a:p>
        </p:txBody>
      </p:sp>
      <p:sp>
        <p:nvSpPr>
          <p:cNvPr id="225" name="FB225"/>
          <p:cNvSpPr/>
          <p:nvPr/>
        </p:nvSpPr>
        <p:spPr>
          <a:xfrm>
            <a:off x="8650000" y="3225000"/>
            <a:ext cx="1800000" cy="600000"/>
          </a:xfrm>
          <a:prstGeom prst="roundRect">
            <a:avLst>
              <a:gd name="adj" fmla="val 15000"/>
            </a:avLst>
          </a:prstGeom>
          <a:solidFill>
            <a:srgbClr val="EDF4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0077A8"/>
                </a:solidFill>
                <a:latin typeface="Arial"/>
              </a:rPr>
              <a:t>Alternative</a:t>
            </a:r>
          </a:p>
        </p:txBody>
      </p:sp>
      <p:sp>
        <p:nvSpPr>
          <p:cNvPr id="230" name="FB230"/>
          <p:cNvSpPr/>
          <p:nvPr/>
        </p:nvSpPr>
        <p:spPr>
          <a:xfrm>
            <a:off x="150000" y="3840000"/>
            <a:ext cx="2400000" cy="600000"/>
          </a:xfrm>
          <a:prstGeom prst="roundRect">
            <a:avLst>
              <a:gd name="adj" fmla="val 15000"/>
            </a:avLst>
          </a:prstGeom>
          <a:solidFill>
            <a:srgbClr val="55555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Atopile</a:t>
            </a:r>
          </a:p>
        </p:txBody>
      </p:sp>
      <p:sp>
        <p:nvSpPr>
          <p:cNvPr id="231" name="FB231"/>
          <p:cNvSpPr/>
          <p:nvPr/>
        </p:nvSpPr>
        <p:spPr>
          <a:xfrm>
            <a:off x="2570000" y="3840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444444"/>
                </a:solidFill>
                <a:latin typeface="Arial"/>
              </a:rPr>
              <a:t>Direct</a:t>
            </a:r>
          </a:p>
          <a:p>
            <a:pPr algn="ctr"/>
            <a:r>
              <a:rPr lang="en-US" sz="1200" b="1" dirty="0">
                <a:solidFill>
                  <a:srgbClr val="444444"/>
                </a:solidFill>
                <a:latin typeface="Arial"/>
              </a:rPr>
              <a:t>Netlist</a:t>
            </a:r>
          </a:p>
        </p:txBody>
      </p:sp>
      <p:sp>
        <p:nvSpPr>
          <p:cNvPr id="232" name="FB232"/>
          <p:cNvSpPr/>
          <p:nvPr/>
        </p:nvSpPr>
        <p:spPr>
          <a:xfrm>
            <a:off x="4090000" y="3840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444444"/>
                </a:solidFill>
                <a:latin typeface="Arial"/>
              </a:rPr>
              <a:t>Exportable</a:t>
            </a:r>
          </a:p>
        </p:txBody>
      </p:sp>
      <p:sp>
        <p:nvSpPr>
          <p:cNvPr id="233" name="FB233"/>
          <p:cNvSpPr/>
          <p:nvPr/>
        </p:nvSpPr>
        <p:spPr>
          <a:xfrm>
            <a:off x="5610000" y="3840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444444"/>
                </a:solidFill>
                <a:latin typeface="Arial"/>
              </a:rPr>
              <a:t>Good</a:t>
            </a:r>
          </a:p>
          <a:p>
            <a:pPr algn="ctr"/>
            <a:r>
              <a:rPr lang="en-US" sz="1200" b="1" dirty="0">
                <a:solidFill>
                  <a:srgbClr val="444444"/>
                </a:solidFill>
                <a:latin typeface="Arial"/>
              </a:rPr>
              <a:t>(Claude gen)</a:t>
            </a:r>
          </a:p>
        </p:txBody>
      </p:sp>
      <p:sp>
        <p:nvSpPr>
          <p:cNvPr id="234" name="FB234"/>
          <p:cNvSpPr/>
          <p:nvPr/>
        </p:nvSpPr>
        <p:spPr>
          <a:xfrm>
            <a:off x="7130000" y="3840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444444"/>
                </a:solidFill>
                <a:latin typeface="Arial"/>
              </a:rPr>
              <a:t>None</a:t>
            </a:r>
          </a:p>
        </p:txBody>
      </p:sp>
      <p:sp>
        <p:nvSpPr>
          <p:cNvPr id="235" name="FB235"/>
          <p:cNvSpPr/>
          <p:nvPr/>
        </p:nvSpPr>
        <p:spPr>
          <a:xfrm>
            <a:off x="8650000" y="3840000"/>
            <a:ext cx="1800000" cy="60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444444"/>
                </a:solidFill>
                <a:latin typeface="Arial"/>
              </a:rPr>
              <a:t>Future</a:t>
            </a:r>
          </a:p>
        </p:txBody>
      </p:sp>
      <p:sp>
        <p:nvSpPr>
          <p:cNvPr id="240" name="FB240"/>
          <p:cNvSpPr/>
          <p:nvPr/>
        </p:nvSpPr>
        <p:spPr>
          <a:xfrm>
            <a:off x="150000" y="4455000"/>
            <a:ext cx="2400000" cy="600000"/>
          </a:xfrm>
          <a:prstGeom prst="roundRect">
            <a:avLst>
              <a:gd name="adj" fmla="val 15000"/>
            </a:avLst>
          </a:prstGeom>
          <a:solidFill>
            <a:srgbClr val="BBBBB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444444"/>
                </a:solidFill>
                <a:latin typeface="Arial"/>
              </a:rPr>
              <a:t>Flux.ai</a:t>
            </a:r>
          </a:p>
        </p:txBody>
      </p:sp>
      <p:sp>
        <p:nvSpPr>
          <p:cNvPr id="241" name="FB241"/>
          <p:cNvSpPr/>
          <p:nvPr/>
        </p:nvSpPr>
        <p:spPr>
          <a:xfrm>
            <a:off x="2570000" y="4455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888888"/>
                </a:solidFill>
                <a:latin typeface="Arial"/>
              </a:rPr>
              <a:t>Export</a:t>
            </a:r>
          </a:p>
        </p:txBody>
      </p:sp>
      <p:sp>
        <p:nvSpPr>
          <p:cNvPr id="242" name="FB242"/>
          <p:cNvSpPr/>
          <p:nvPr/>
        </p:nvSpPr>
        <p:spPr>
          <a:xfrm>
            <a:off x="4090000" y="4455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888888"/>
                </a:solidFill>
                <a:latin typeface="Arial"/>
              </a:rPr>
              <a:t>Export</a:t>
            </a:r>
          </a:p>
        </p:txBody>
      </p:sp>
      <p:sp>
        <p:nvSpPr>
          <p:cNvPr id="243" name="FB243"/>
          <p:cNvSpPr/>
          <p:nvPr/>
        </p:nvSpPr>
        <p:spPr>
          <a:xfrm>
            <a:off x="5610000" y="4455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888888"/>
                </a:solidFill>
                <a:latin typeface="Arial"/>
              </a:rPr>
              <a:t>Unknown</a:t>
            </a:r>
          </a:p>
        </p:txBody>
      </p:sp>
      <p:sp>
        <p:nvSpPr>
          <p:cNvPr id="244" name="FB244"/>
          <p:cNvSpPr/>
          <p:nvPr/>
        </p:nvSpPr>
        <p:spPr>
          <a:xfrm>
            <a:off x="7130000" y="4455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888888"/>
                </a:solidFill>
                <a:latin typeface="Arial"/>
              </a:rPr>
              <a:t>High</a:t>
            </a:r>
          </a:p>
          <a:p>
            <a:pPr algn="ctr"/>
            <a:r>
              <a:rPr lang="en-US" sz="1200" b="1" dirty="0">
                <a:solidFill>
                  <a:srgbClr val="888888"/>
                </a:solidFill>
                <a:latin typeface="Arial"/>
              </a:rPr>
              <a:t>($$)</a:t>
            </a:r>
          </a:p>
        </p:txBody>
      </p:sp>
      <p:sp>
        <p:nvSpPr>
          <p:cNvPr id="245" name="FB245"/>
          <p:cNvSpPr/>
          <p:nvPr/>
        </p:nvSpPr>
        <p:spPr>
          <a:xfrm>
            <a:off x="8650000" y="4455000"/>
            <a:ext cx="1800000" cy="6000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888888"/>
                </a:solidFill>
                <a:latin typeface="Arial"/>
              </a:rPr>
              <a:t>Commercial</a:t>
            </a:r>
          </a:p>
          <a:p>
            <a:pPr algn="ctr"/>
            <a:r>
              <a:rPr lang="en-US" sz="1200" b="1" dirty="0">
                <a:solidFill>
                  <a:srgbClr val="888888"/>
                </a:solidFill>
                <a:latin typeface="Arial"/>
              </a:rPr>
              <a:t>only</a:t>
            </a:r>
          </a:p>
        </p:txBody>
      </p:sp>
      <p:sp>
        <p:nvSpPr>
          <p:cNvPr id="250" name="FB250"/>
          <p:cNvSpPr/>
          <p:nvPr/>
        </p:nvSpPr>
        <p:spPr>
          <a:xfrm>
            <a:off x="150000" y="5070000"/>
            <a:ext cx="2400000" cy="600000"/>
          </a:xfrm>
          <a:prstGeom prst="roundRect">
            <a:avLst>
              <a:gd name="adj" fmla="val 15000"/>
            </a:avLst>
          </a:prstGeom>
          <a:solidFill>
            <a:srgbClr val="BBBBB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444444"/>
                </a:solidFill>
                <a:latin typeface="Arial"/>
              </a:rPr>
              <a:t>CELUS</a:t>
            </a:r>
          </a:p>
        </p:txBody>
      </p:sp>
      <p:sp>
        <p:nvSpPr>
          <p:cNvPr id="251" name="FB251"/>
          <p:cNvSpPr/>
          <p:nvPr/>
        </p:nvSpPr>
        <p:spPr>
          <a:xfrm>
            <a:off x="2570000" y="5070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888888"/>
                </a:solidFill>
                <a:latin typeface="Arial"/>
              </a:rPr>
              <a:t>None</a:t>
            </a:r>
          </a:p>
        </p:txBody>
      </p:sp>
      <p:sp>
        <p:nvSpPr>
          <p:cNvPr id="252" name="FB252"/>
          <p:cNvSpPr/>
          <p:nvPr/>
        </p:nvSpPr>
        <p:spPr>
          <a:xfrm>
            <a:off x="4090000" y="5070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888888"/>
                </a:solidFill>
                <a:latin typeface="Arial"/>
              </a:rPr>
              <a:t>Altium only</a:t>
            </a:r>
          </a:p>
        </p:txBody>
      </p:sp>
      <p:sp>
        <p:nvSpPr>
          <p:cNvPr id="253" name="FB253"/>
          <p:cNvSpPr/>
          <p:nvPr/>
        </p:nvSpPr>
        <p:spPr>
          <a:xfrm>
            <a:off x="5610000" y="5070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888888"/>
                </a:solidFill>
                <a:latin typeface="Arial"/>
              </a:rPr>
              <a:t>Component</a:t>
            </a:r>
          </a:p>
          <a:p>
            <a:pPr algn="ctr"/>
            <a:r>
              <a:rPr lang="en-US" sz="1200" b="1" dirty="0">
                <a:solidFill>
                  <a:srgbClr val="888888"/>
                </a:solidFill>
                <a:latin typeface="Arial"/>
              </a:rPr>
              <a:t>focus</a:t>
            </a:r>
          </a:p>
        </p:txBody>
      </p:sp>
      <p:sp>
        <p:nvSpPr>
          <p:cNvPr id="254" name="FB254"/>
          <p:cNvSpPr/>
          <p:nvPr/>
        </p:nvSpPr>
        <p:spPr>
          <a:xfrm>
            <a:off x="7130000" y="5070000"/>
            <a:ext cx="1500000" cy="6000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888888"/>
                </a:solidFill>
                <a:latin typeface="Arial"/>
              </a:rPr>
              <a:t>High</a:t>
            </a:r>
          </a:p>
          <a:p>
            <a:pPr algn="ctr"/>
            <a:r>
              <a:rPr lang="en-US" sz="1200" b="1" dirty="0">
                <a:solidFill>
                  <a:srgbClr val="888888"/>
                </a:solidFill>
                <a:latin typeface="Arial"/>
              </a:rPr>
              <a:t>($$)</a:t>
            </a:r>
          </a:p>
        </p:txBody>
      </p:sp>
      <p:sp>
        <p:nvSpPr>
          <p:cNvPr id="255" name="FB255"/>
          <p:cNvSpPr/>
          <p:nvPr/>
        </p:nvSpPr>
        <p:spPr>
          <a:xfrm>
            <a:off x="8650000" y="5070000"/>
            <a:ext cx="1800000" cy="6000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888888"/>
                </a:solidFill>
                <a:latin typeface="Arial"/>
              </a:rPr>
              <a:t>Not</a:t>
            </a:r>
          </a:p>
          <a:p>
            <a:pPr algn="ctr"/>
            <a:r>
              <a:rPr lang="en-US" sz="1200" b="1" dirty="0">
                <a:solidFill>
                  <a:srgbClr val="888888"/>
                </a:solidFill>
                <a:latin typeface="Arial"/>
              </a:rPr>
              <a:t>relevant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"/>
          <p:cNvSpPr>
            <a:spLocks noGrp="1"/>
          </p:cNvSpPr>
          <p:nvPr>
            <p:ph type="sldNum" sz="quarter" idx="4294967295"/>
          </p:nvPr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>
            <a:normAutofit/>
          </a:bodyPr>
          <a:lstStyle/>
          <a:p>
            <a:fld id="{62A42E78-4FE3-4E16-9FB9-64A349BFE3FC}" type="slidenum">
              <a:rPr lang="en-US" smtClean="0">
                <a:latin typeface="Arial Narrow"/>
              </a:rPr>
              <a:pPr/>
              <a:t>17</a:t>
            </a:fld>
            <a:endParaRPr lang="en-US">
              <a:latin typeface="Arial Narrow"/>
            </a:endParaRPr>
          </a:p>
        </p:txBody>
      </p:sp>
      <p:sp>
        <p:nvSpPr>
          <p:cNvPr id="69" name="Hdr"/>
          <p:cNvSpPr>
            <a:spLocks/>
          </p:cNvSpPr>
          <p:nvPr/>
        </p:nvSpPr>
        <p:spPr>
          <a:xfrm>
            <a:off x="184526" y="-1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Limitations and Roadmap</a:t>
            </a:r>
          </a:p>
        </p:txBody>
      </p:sp>
      <p:sp>
        <p:nvSpPr>
          <p:cNvPr id="100" name="FB100"/>
          <p:cNvSpPr/>
          <p:nvPr/>
        </p:nvSpPr>
        <p:spPr>
          <a:xfrm>
            <a:off x="200000" y="1380000"/>
            <a:ext cx="5600000" cy="430000"/>
          </a:xfrm>
          <a:prstGeom prst="roundRect">
            <a:avLst>
              <a:gd name="adj" fmla="val 15000"/>
            </a:avLst>
          </a:prstGeom>
          <a:solidFill>
            <a:srgbClr val="C62828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Model ceiling</a:t>
            </a:r>
          </a:p>
        </p:txBody>
      </p:sp>
      <p:sp>
        <p:nvSpPr>
          <p:cNvPr id="150" name="FB150"/>
          <p:cNvSpPr/>
          <p:nvPr/>
        </p:nvSpPr>
        <p:spPr>
          <a:xfrm>
            <a:off x="200000" y="1810000"/>
            <a:ext cx="5600000" cy="56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7B model ignores complex ICs.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Frontier LLM (Claude Sonnet) needed for production.</a:t>
            </a:r>
          </a:p>
        </p:txBody>
      </p:sp>
      <p:sp>
        <p:nvSpPr>
          <p:cNvPr id="101" name="FB101"/>
          <p:cNvSpPr/>
          <p:nvPr/>
        </p:nvSpPr>
        <p:spPr>
          <a:xfrm>
            <a:off x="6300000" y="1380000"/>
            <a:ext cx="5600000" cy="430000"/>
          </a:xfrm>
          <a:prstGeom prst="roundRect">
            <a:avLst>
              <a:gd name="adj" fmla="val 15000"/>
            </a:avLst>
          </a:prstGeom>
          <a:solidFill>
            <a:srgbClr val="B8860B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ST library gap</a:t>
            </a:r>
          </a:p>
        </p:txBody>
      </p:sp>
      <p:sp>
        <p:nvSpPr>
          <p:cNvPr id="151" name="FB151"/>
          <p:cNvSpPr/>
          <p:nvPr/>
        </p:nvSpPr>
        <p:spPr>
          <a:xfrm>
            <a:off x="6300000" y="1810000"/>
            <a:ext cx="5600000" cy="56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Only STM32F411CEU6 added.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Full ST portfolio needs KG encoding.</a:t>
            </a:r>
          </a:p>
        </p:txBody>
      </p:sp>
      <p:sp>
        <p:nvSpPr>
          <p:cNvPr id="102" name="FB102"/>
          <p:cNvSpPr/>
          <p:nvPr/>
        </p:nvSpPr>
        <p:spPr>
          <a:xfrm>
            <a:off x="200000" y="2490000"/>
            <a:ext cx="5600000" cy="430000"/>
          </a:xfrm>
          <a:prstGeom prst="roundRect">
            <a:avLst>
              <a:gd name="adj" fmla="val 15000"/>
            </a:avLst>
          </a:prstGeom>
          <a:solidFill>
            <a:srgbClr val="55555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KiCad only</a:t>
            </a:r>
          </a:p>
        </p:txBody>
      </p:sp>
      <p:sp>
        <p:nvSpPr>
          <p:cNvPr id="152" name="FB152"/>
          <p:cNvSpPr/>
          <p:nvPr/>
        </p:nvSpPr>
        <p:spPr>
          <a:xfrm>
            <a:off x="200000" y="2920000"/>
            <a:ext cx="5600000" cy="56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No OrCAD/Allegro direct path.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EDIF workaround needs manual remapping.</a:t>
            </a:r>
          </a:p>
        </p:txBody>
      </p:sp>
      <p:sp>
        <p:nvSpPr>
          <p:cNvPr id="103" name="FB103"/>
          <p:cNvSpPr/>
          <p:nvPr/>
        </p:nvSpPr>
        <p:spPr>
          <a:xfrm>
            <a:off x="6300000" y="2490000"/>
            <a:ext cx="5600000" cy="430000"/>
          </a:xfrm>
          <a:prstGeom prst="roundRect">
            <a:avLst>
              <a:gd name="adj" fmla="val 15000"/>
            </a:avLst>
          </a:prstGeom>
          <a:solidFill>
            <a:srgbClr val="777777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Scale limit</a:t>
            </a:r>
          </a:p>
        </p:txBody>
      </p:sp>
      <p:sp>
        <p:nvSpPr>
          <p:cNvPr id="153" name="FB153"/>
          <p:cNvSpPr/>
          <p:nvPr/>
        </p:nvSpPr>
        <p:spPr>
          <a:xfrm>
            <a:off x="6300000" y="2920000"/>
            <a:ext cx="5600000" cy="5600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150-300 component boards need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hierarchical generation — not yet built.</a:t>
            </a:r>
          </a:p>
        </p:txBody>
      </p:sp>
      <p:sp>
        <p:nvSpPr>
          <p:cNvPr id="500" name="TLBar"/>
          <p:cNvSpPr/>
          <p:nvPr/>
        </p:nvSpPr>
        <p:spPr>
          <a:xfrm>
            <a:off x="200000" y="4120000"/>
            <a:ext cx="11700000" cy="800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0" name="FB600"/>
          <p:cNvSpPr/>
          <p:nvPr/>
        </p:nvSpPr>
        <p:spPr>
          <a:xfrm>
            <a:off x="1590000" y="3960000"/>
            <a:ext cx="320000" cy="320000"/>
          </a:xfrm>
          <a:prstGeom prst="roundRect">
            <a:avLst>
              <a:gd name="adj" fmla="val 15000"/>
            </a:avLst>
          </a:prstGeom>
          <a:solidFill>
            <a:srgbClr val="1B5E20"/>
          </a:solidFill>
          <a:ln>
            <a:noFill/>
          </a:ln>
        </p:spPr>
        <p:txBody>
          <a:bodyPr anchor="ctr" anchorCtr="1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610" name="FB610"/>
          <p:cNvSpPr/>
          <p:nvPr/>
        </p:nvSpPr>
        <p:spPr>
          <a:xfrm>
            <a:off x="200000" y="4320000"/>
            <a:ext cx="3700000" cy="500000"/>
          </a:xfrm>
          <a:prstGeom prst="roundRect">
            <a:avLst>
              <a:gd name="adj" fmla="val 15000"/>
            </a:avLst>
          </a:prstGeom>
          <a:solidFill>
            <a:srgbClr val="1B5E20"/>
          </a:solidFill>
          <a:ln>
            <a:noFill/>
          </a:ln>
        </p:spPr>
        <p:txBody>
          <a:bodyPr anchor="ctr" anchorCtr="1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Phase 1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DONE ✓</a:t>
            </a:r>
          </a:p>
        </p:txBody>
      </p:sp>
      <p:sp>
        <p:nvSpPr>
          <p:cNvPr id="620" name="FB620"/>
          <p:cNvSpPr/>
          <p:nvPr/>
        </p:nvSpPr>
        <p:spPr>
          <a:xfrm>
            <a:off x="200000" y="4900000"/>
            <a:ext cx="3700000" cy="85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Pipeline running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17/17 tests pass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1st ST circuit — 0 ERC errors</a:t>
            </a:r>
          </a:p>
        </p:txBody>
      </p:sp>
      <p:sp>
        <p:nvSpPr>
          <p:cNvPr id="601" name="FB601"/>
          <p:cNvSpPr/>
          <p:nvPr/>
        </p:nvSpPr>
        <p:spPr>
          <a:xfrm>
            <a:off x="5590000" y="3960000"/>
            <a:ext cx="320000" cy="320000"/>
          </a:xfrm>
          <a:prstGeom prst="roundRect">
            <a:avLst>
              <a:gd name="adj" fmla="val 15000"/>
            </a:avLst>
          </a:prstGeom>
          <a:solidFill>
            <a:srgbClr val="0077A8"/>
          </a:solidFill>
          <a:ln>
            <a:noFill/>
          </a:ln>
        </p:spPr>
        <p:txBody>
          <a:bodyPr anchor="ctr" anchorCtr="1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611" name="FB611"/>
          <p:cNvSpPr/>
          <p:nvPr/>
        </p:nvSpPr>
        <p:spPr>
          <a:xfrm>
            <a:off x="4200000" y="4320000"/>
            <a:ext cx="3700000" cy="500000"/>
          </a:xfrm>
          <a:prstGeom prst="roundRect">
            <a:avLst>
              <a:gd name="adj" fmla="val 15000"/>
            </a:avLst>
          </a:prstGeom>
          <a:solidFill>
            <a:srgbClr val="0077A8"/>
          </a:solidFill>
          <a:ln>
            <a:noFill/>
          </a:ln>
        </p:spPr>
        <p:txBody>
          <a:bodyPr anchor="ctr" anchorCtr="1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Phase 2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NEXT</a:t>
            </a:r>
          </a:p>
        </p:txBody>
      </p:sp>
      <p:sp>
        <p:nvSpPr>
          <p:cNvPr id="621" name="FB621"/>
          <p:cNvSpPr/>
          <p:nvPr/>
        </p:nvSpPr>
        <p:spPr>
          <a:xfrm>
            <a:off x="4200000" y="4900000"/>
            <a:ext cx="3700000" cy="85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Claude Sonnet API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Full STM32F4 KG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ST benchmark tasks</a:t>
            </a:r>
          </a:p>
        </p:txBody>
      </p:sp>
      <p:sp>
        <p:nvSpPr>
          <p:cNvPr id="602" name="FB602"/>
          <p:cNvSpPr/>
          <p:nvPr/>
        </p:nvSpPr>
        <p:spPr>
          <a:xfrm>
            <a:off x="9590000" y="3960000"/>
            <a:ext cx="320000" cy="320000"/>
          </a:xfrm>
          <a:prstGeom prst="roundRect">
            <a:avLst>
              <a:gd name="adj" fmla="val 15000"/>
            </a:avLst>
          </a:prstGeom>
          <a:solidFill>
            <a:srgbClr val="555555"/>
          </a:solidFill>
          <a:ln>
            <a:noFill/>
          </a:ln>
        </p:spPr>
        <p:txBody>
          <a:bodyPr anchor="ctr" anchorCtr="1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612" name="FB612"/>
          <p:cNvSpPr/>
          <p:nvPr/>
        </p:nvSpPr>
        <p:spPr>
          <a:xfrm>
            <a:off x="8200000" y="4320000"/>
            <a:ext cx="3700000" cy="500000"/>
          </a:xfrm>
          <a:prstGeom prst="roundRect">
            <a:avLst>
              <a:gd name="adj" fmla="val 15000"/>
            </a:avLst>
          </a:prstGeom>
          <a:solidFill>
            <a:srgbClr val="555555"/>
          </a:solidFill>
          <a:ln>
            <a:noFill/>
          </a:ln>
        </p:spPr>
        <p:txBody>
          <a:bodyPr anchor="ctr" anchorCtr="1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Phase 3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</a:rPr>
              <a:t>FUTURE</a:t>
            </a:r>
          </a:p>
        </p:txBody>
      </p:sp>
      <p:sp>
        <p:nvSpPr>
          <p:cNvPr id="622" name="FB622"/>
          <p:cNvSpPr/>
          <p:nvPr/>
        </p:nvSpPr>
        <p:spPr>
          <a:xfrm>
            <a:off x="8200000" y="4900000"/>
            <a:ext cx="3700000" cy="85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</p:spPr>
        <p:txBody>
          <a:bodyPr anchor="ctr" anchorCtr="1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Hierarchical generation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Simulation-in-loop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  <a:latin typeface="Arial"/>
              </a:rPr>
              <a:t>OrCAD MCP integration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"/>
          <p:cNvSpPr>
            <a:spLocks noGrp="1"/>
          </p:cNvSpPr>
          <p:nvPr>
            <p:ph type="sldNum" sz="quarter" idx="4294967295"/>
          </p:nvPr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>
            <a:normAutofit/>
          </a:bodyPr>
          <a:lstStyle/>
          <a:p>
            <a:fld id="{62A42E78-4FE3-4E16-9FB9-64A349BFE3FC}" type="slidenum">
              <a:rPr lang="en-US" smtClean="0">
                <a:latin typeface="Arial Narrow"/>
              </a:rPr>
              <a:pPr/>
              <a:t>18</a:t>
            </a:fld>
            <a:endParaRPr lang="en-US">
              <a:latin typeface="Arial Narrow"/>
            </a:endParaRPr>
          </a:p>
        </p:txBody>
      </p:sp>
      <p:sp>
        <p:nvSpPr>
          <p:cNvPr id="69" name="HeaderBar"/>
          <p:cNvSpPr>
            <a:spLocks/>
          </p:cNvSpPr>
          <p:nvPr/>
        </p:nvSpPr>
        <p:spPr>
          <a:xfrm>
            <a:off x="184526" y="-1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 anchorCtr="0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Conclusion</a:t>
            </a:r>
          </a:p>
        </p:txBody>
      </p:sp>
      <p:sp>
        <p:nvSpPr>
          <p:cNvPr id="102" name="ContentBox"/>
          <p:cNvSpPr/>
          <p:nvPr/>
        </p:nvSpPr>
        <p:spPr>
          <a:xfrm>
            <a:off x="184833" y="1277814"/>
            <a:ext cx="11900000" cy="50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What this project demonstrates</a:t>
            </a:r>
          </a:p>
        </p:txBody>
      </p:sp>
      <p:sp>
        <p:nvSpPr>
          <p:cNvPr id="101" name="LabelBox_Prov"/>
          <p:cNvSpPr/>
          <p:nvPr/>
        </p:nvSpPr>
        <p:spPr>
          <a:xfrm>
            <a:off x="184833" y="1950000"/>
            <a:ext cx="1928582" cy="923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Proven</a:t>
            </a:r>
          </a:p>
        </p:txBody>
      </p:sp>
      <p:sp>
        <p:nvSpPr>
          <p:cNvPr id="2" name="ContentBox"/>
          <p:cNvSpPr/>
          <p:nvPr/>
        </p:nvSpPr>
        <p:spPr>
          <a:xfrm>
            <a:off x="2147460" y="1950000"/>
            <a:ext cx="9700000" cy="923331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End-to-end pipeline works: natural language to KiCad netlist with 0 ERC errors on ST components</a:t>
            </a:r>
          </a:p>
        </p:txBody>
      </p:sp>
      <p:sp>
        <p:nvSpPr>
          <p:cNvPr id="3" name="LabelBox_Buil"/>
          <p:cNvSpPr/>
          <p:nvPr/>
        </p:nvSpPr>
        <p:spPr>
          <a:xfrm>
            <a:off x="184526" y="3050000"/>
            <a:ext cx="1928582" cy="923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Built</a:t>
            </a:r>
          </a:p>
        </p:txBody>
      </p:sp>
      <p:sp>
        <p:nvSpPr>
          <p:cNvPr id="4" name="ContentBox"/>
          <p:cNvSpPr/>
          <p:nvPr/>
        </p:nvSpPr>
        <p:spPr>
          <a:xfrm>
            <a:off x="2147460" y="3050000"/>
            <a:ext cx="9700000" cy="923331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RAG system over ST datasheets + STM32 KG + SKiDL + local LLM — all running on Lightning AI</a:t>
            </a:r>
          </a:p>
        </p:txBody>
      </p:sp>
      <p:sp>
        <p:nvSpPr>
          <p:cNvPr id="5" name="LabelBox_Next"/>
          <p:cNvSpPr/>
          <p:nvPr/>
        </p:nvSpPr>
        <p:spPr>
          <a:xfrm>
            <a:off x="184526" y="4150000"/>
            <a:ext cx="1928582" cy="923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Next step</a:t>
            </a:r>
          </a:p>
        </p:txBody>
      </p:sp>
      <p:sp>
        <p:nvSpPr>
          <p:cNvPr id="7" name="ContentBox"/>
          <p:cNvSpPr/>
          <p:nvPr/>
        </p:nvSpPr>
        <p:spPr>
          <a:xfrm>
            <a:off x="2147460" y="4150000"/>
            <a:ext cx="9700000" cy="923331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Connect Claude Sonnet API — same infrastructure, dramatically better complex circuit quality</a:t>
            </a:r>
          </a:p>
        </p:txBody>
      </p:sp>
      <p:sp>
        <p:nvSpPr>
          <p:cNvPr id="8" name="LabelBox_Visi"/>
          <p:cNvSpPr/>
          <p:nvPr/>
        </p:nvSpPr>
        <p:spPr>
          <a:xfrm>
            <a:off x="184526" y="5250000"/>
            <a:ext cx="1928582" cy="923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Vision</a:t>
            </a:r>
          </a:p>
        </p:txBody>
      </p:sp>
      <p:sp>
        <p:nvSpPr>
          <p:cNvPr id="9" name="ContentBox"/>
          <p:cNvSpPr/>
          <p:nvPr/>
        </p:nvSpPr>
        <p:spPr>
          <a:xfrm>
            <a:off x="2147460" y="5250000"/>
            <a:ext cx="9700000" cy="923331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A fully ST-aware schematic generation system — engineer describes intent, pipeline draws 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"/>
          <p:cNvSpPr>
            <a:spLocks noGrp="1"/>
          </p:cNvSpPr>
          <p:nvPr>
            <p:ph type="sldNum" sz="quarter" idx="4294967295"/>
          </p:nvPr>
        </p:nvSpPr>
        <p:spPr>
          <a:xfrm>
            <a:off x="11703694" y="6535940"/>
            <a:ext cx="411004" cy="292554"/>
          </a:xfrm>
          <a:prstGeom prst="rect">
            <a:avLst/>
          </a:prstGeom>
        </p:spPr>
        <p:txBody>
          <a:bodyPr>
            <a:normAutofit/>
          </a:bodyPr>
          <a:lstStyle/>
          <a:p>
            <a:fld id="{62A42E78-4FE3-4E16-9FB9-64A349BFE3FC}" type="slidenum">
              <a:rPr lang="en-US" smtClean="0">
                <a:latin typeface="Arial Narrow"/>
              </a:rPr>
              <a:pPr/>
              <a:t>19</a:t>
            </a:fld>
            <a:endParaRPr lang="en-US">
              <a:latin typeface="Arial Narrow"/>
            </a:endParaRPr>
          </a:p>
        </p:txBody>
      </p:sp>
      <p:sp>
        <p:nvSpPr>
          <p:cNvPr id="69" name="HeaderBar"/>
          <p:cNvSpPr>
            <a:spLocks/>
          </p:cNvSpPr>
          <p:nvPr/>
        </p:nvSpPr>
        <p:spPr>
          <a:xfrm>
            <a:off x="184526" y="-1"/>
            <a:ext cx="12007473" cy="1146751"/>
          </a:xfrm>
          <a:prstGeom prst="rect">
            <a:avLst/>
          </a:prstGeom>
          <a:solidFill>
            <a:schemeClr val="tx1"/>
          </a:solidFill>
        </p:spPr>
        <p:txBody>
          <a:bodyPr wrap="square" anchor="ctr" anchorCtr="0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/>
              </a:rPr>
              <a:t>Execution Environment</a:t>
            </a:r>
          </a:p>
        </p:txBody>
      </p:sp>
      <p:sp>
        <p:nvSpPr>
          <p:cNvPr id="102" name="ContentBox"/>
          <p:cNvSpPr/>
          <p:nvPr/>
        </p:nvSpPr>
        <p:spPr>
          <a:xfrm>
            <a:off x="184833" y="1277814"/>
            <a:ext cx="5800000" cy="50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Execution environment</a:t>
            </a:r>
          </a:p>
        </p:txBody>
      </p:sp>
      <p:sp>
        <p:nvSpPr>
          <p:cNvPr id="101" name="LabelBox_Plat"/>
          <p:cNvSpPr/>
          <p:nvPr/>
        </p:nvSpPr>
        <p:spPr>
          <a:xfrm>
            <a:off x="6200000" y="19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Platform</a:t>
            </a:r>
          </a:p>
        </p:txBody>
      </p:sp>
      <p:sp>
        <p:nvSpPr>
          <p:cNvPr id="2" name="ContentBox"/>
          <p:cNvSpPr/>
          <p:nvPr/>
        </p:nvSpPr>
        <p:spPr>
          <a:xfrm>
            <a:off x="8200000" y="1950000"/>
            <a:ext cx="38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Lightning AI Studio — cloud Linux</a:t>
            </a:r>
          </a:p>
        </p:txBody>
      </p:sp>
      <p:sp>
        <p:nvSpPr>
          <p:cNvPr id="3" name="LabelBox_OS"/>
          <p:cNvSpPr/>
          <p:nvPr/>
        </p:nvSpPr>
        <p:spPr>
          <a:xfrm>
            <a:off x="6200000" y="28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OS</a:t>
            </a:r>
          </a:p>
        </p:txBody>
      </p:sp>
      <p:sp>
        <p:nvSpPr>
          <p:cNvPr id="4" name="ContentBox"/>
          <p:cNvSpPr/>
          <p:nvPr/>
        </p:nvSpPr>
        <p:spPr>
          <a:xfrm>
            <a:off x="8200000" y="2850000"/>
            <a:ext cx="38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Ubuntu 24.04.4 LTS</a:t>
            </a:r>
          </a:p>
        </p:txBody>
      </p:sp>
      <p:sp>
        <p:nvSpPr>
          <p:cNvPr id="5" name="LabelBox_RAM"/>
          <p:cNvSpPr/>
          <p:nvPr/>
        </p:nvSpPr>
        <p:spPr>
          <a:xfrm>
            <a:off x="6200000" y="37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RAM</a:t>
            </a:r>
          </a:p>
        </p:txBody>
      </p:sp>
      <p:sp>
        <p:nvSpPr>
          <p:cNvPr id="7" name="ContentBox"/>
          <p:cNvSpPr/>
          <p:nvPr/>
        </p:nvSpPr>
        <p:spPr>
          <a:xfrm>
            <a:off x="8200000" y="3750000"/>
            <a:ext cx="38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15GB total, 13GB available</a:t>
            </a:r>
          </a:p>
        </p:txBody>
      </p:sp>
      <p:sp>
        <p:nvSpPr>
          <p:cNvPr id="8" name="LabelBox_GPU"/>
          <p:cNvSpPr/>
          <p:nvPr/>
        </p:nvSpPr>
        <p:spPr>
          <a:xfrm>
            <a:off x="6200000" y="46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GPU</a:t>
            </a:r>
          </a:p>
        </p:txBody>
      </p:sp>
      <p:sp>
        <p:nvSpPr>
          <p:cNvPr id="9" name="ContentBox"/>
          <p:cNvSpPr/>
          <p:nvPr/>
        </p:nvSpPr>
        <p:spPr>
          <a:xfrm>
            <a:off x="8200000" y="4650000"/>
            <a:ext cx="38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T4 GPU for Qwen3:8b inference</a:t>
            </a:r>
          </a:p>
        </p:txBody>
      </p:sp>
      <p:sp>
        <p:nvSpPr>
          <p:cNvPr id="10" name="LabelBox_Pyth"/>
          <p:cNvSpPr/>
          <p:nvPr/>
        </p:nvSpPr>
        <p:spPr>
          <a:xfrm>
            <a:off x="6200000" y="5550000"/>
            <a:ext cx="1928582" cy="75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2862" rIns="182862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Arial"/>
              </a:rPr>
              <a:t>Python</a:t>
            </a:r>
          </a:p>
        </p:txBody>
      </p:sp>
      <p:sp>
        <p:nvSpPr>
          <p:cNvPr id="11" name="ContentBox"/>
          <p:cNvSpPr/>
          <p:nvPr/>
        </p:nvSpPr>
        <p:spPr>
          <a:xfrm>
            <a:off x="8200000" y="5550000"/>
            <a:ext cx="3800000" cy="7500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lIns="182862" rIns="182862" rtlCol="0" anchor="t">
            <a:normAutofit/>
          </a:bodyPr>
          <a:lstStyle/>
          <a:p>
            <a:pPr algn="l"/>
            <a:r>
              <a:rPr lang="en-US" sz="1600" kern="0" dirty="0">
                <a:solidFill>
                  <a:schemeClr val="tx1"/>
                </a:solidFill>
                <a:latin typeface="Arial"/>
              </a:rPr>
              <a:t>3.12.11 + KiCad 7.0.11 + Ollama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C649D2-5F87-9AC1-DBCF-A71731FBE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9" y="2302642"/>
            <a:ext cx="5921462" cy="25947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46E23D96-FE00-40FD-95C6-3BE155C7053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6427a05-aedc-49fa-b65f-59cd86756951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3B0FDED-7096-4228-B35E-FFCAED0B7078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c0178377-20a1-4a58-94c8-5140d3c0b75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42d68a5-6f06-4b98-9bfa-9ddbf93db85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E0310CB78D304A8B72925D6D91E9CA" ma:contentTypeVersion="11" ma:contentTypeDescription="Create a new document." ma:contentTypeScope="" ma:versionID="8593a2fbb4148d5bf7a1283fa4b354ee">
  <xsd:schema xmlns:xsd="http://www.w3.org/2001/XMLSchema" xmlns:xs="http://www.w3.org/2001/XMLSchema" xmlns:p="http://schemas.microsoft.com/office/2006/metadata/properties" xmlns:ns2="442d68a5-6f06-4b98-9bfa-9ddbf93db854" targetNamespace="http://schemas.microsoft.com/office/2006/metadata/properties" ma:root="true" ma:fieldsID="9e51557eb77041f63b3a7f1a5754b99f" ns2:_="">
    <xsd:import namespace="442d68a5-6f06-4b98-9bfa-9ddbf93db8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2d68a5-6f06-4b98-9bfa-9ddbf93db8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15f0e51-4dc2-4521-a620-e03b1e9ce1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F0D75A-E020-4DB7-A542-56C35D4E202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9B3DCC-C873-4FF7-BC15-D87BDD49D39C}">
  <ds:schemaRefs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442d68a5-6f06-4b98-9bfa-9ddbf93db854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7A771CC-5363-4A64-BC8A-570BB1E0C4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2d68a5-6f06-4b98-9bfa-9ddbf93db8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791</TotalTime>
  <Words>1441</Words>
  <Application>Microsoft Office PowerPoint</Application>
  <PresentationFormat>Widescreen</PresentationFormat>
  <Paragraphs>375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Arial Narrow</vt:lpstr>
      <vt:lpstr>Calibri</vt:lpstr>
      <vt:lpstr>ST PowerPoint Template 16x9</vt:lpstr>
      <vt:lpstr>LLM-Driven Schematic Generation for STMicroelectronics Components in KiCAD.v7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RAWAT</dc:creator>
  <cp:keywords/>
  <cp:lastModifiedBy>DUSHYANT SINGH (RA2311067010014)</cp:lastModifiedBy>
  <cp:revision>43</cp:revision>
  <cp:lastPrinted>2026-07-09T17:22:11Z</cp:lastPrinted>
  <dcterms:created xsi:type="dcterms:W3CDTF">2026-04-20T07:56:56Z</dcterms:created>
  <dcterms:modified xsi:type="dcterms:W3CDTF">2026-07-09T17:24:38Z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0x010100BBE0310CB78D304A8B72925D6D91E9CA</vt:lpwstr>
  </property>
  <property fmtid="{D5CDD505-2E9C-101B-9397-08002B2CF9AE}" pid="3" name="MediaServiceImageTags">
    <vt:lpwstr/>
  </property>
</Properties>
</file>